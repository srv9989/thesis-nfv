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1" r:id="rId6"/>
    <p:sldId id="262" r:id="rId7"/>
    <p:sldId id="263" r:id="rId8"/>
    <p:sldId id="280" r:id="rId9"/>
    <p:sldId id="281" r:id="rId10"/>
    <p:sldId id="282" r:id="rId11"/>
    <p:sldId id="283" r:id="rId12"/>
    <p:sldId id="284" r:id="rId13"/>
    <p:sldId id="285" r:id="rId14"/>
    <p:sldId id="286" r:id="rId15"/>
    <p:sldId id="291" r:id="rId16"/>
    <p:sldId id="287" r:id="rId17"/>
    <p:sldId id="288" r:id="rId18"/>
    <p:sldId id="279" r:id="rId19"/>
  </p:sldIdLst>
  <p:sldSz cx="14630400" cy="8229600"/>
  <p:notesSz cx="8229600" cy="14630400"/>
  <p:embeddedFontLst>
    <p:embeddedFont>
      <p:font typeface="Inter" panose="020B0604020202020204" charset="0"/>
      <p:regular r:id="rId21"/>
      <p:bold r:id="rId22"/>
      <p:italic r:id="rId23"/>
      <p:boldItalic r:id="rId24"/>
    </p:embeddedFont>
    <p:embeddedFont>
      <p:font typeface="Inter Bold" panose="020B0604020202020204" charset="0"/>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67159" autoAdjust="0"/>
  </p:normalViewPr>
  <p:slideViewPr>
    <p:cSldViewPr snapToGrid="0" snapToObjects="1">
      <p:cViewPr varScale="1">
        <p:scale>
          <a:sx n="38" d="100"/>
          <a:sy n="38" d="100"/>
        </p:scale>
        <p:origin x="168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1559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fundamental issue with traditional SFC placement is the assumption that all flows behave similarly. However, TCP flows suffer when latency is high, while Non-TCP flows demand maximum throughput. Ignoring these protocol differences leads to inefficient placement. Our work introduces protocol awareness to significantly improve QoS and resource utilization.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NFV provides the foundation for flexible network management by virtualizing functions that traditionally required dedicated hardware. VNFs running on commodity servers allow dynamic allocation, scaling, and orchestration. This flexibility makes NFV essential for service function chaining, where multiple VNFs must be ordered and mapped efficiently for each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SFC specifies the exact sequence of virtual functions that a flow must pass through. Each VNF adds resource consumption and latency. The placement challenge is to map these VNFs onto physical nodes while meeting CPU, bandwidth, and ordering constraints. This example chain demonstrates typical resource requirements of a basic SFC.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a complete SFC request including CPU and bandwidth demands for each VNF. Below it, we illustrate how the request maps onto the substrate network. This example demonstrates the placement problem: selecting nodes and links that satisfy ordering, CPU limits, and bandwidth requirements while minimizing delay or maximizing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Different flow types require different performance guarantees. TCP flows suffer from latency because retransmissions slow down delivery. Non-TCP flows require bandwidth to maximize throughput. Our system classifies incoming flows and assigns customized SFC chains optimized for their protocol-specific QoS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evaluate three algorithm families. Greedy heuristics are fast but prone to resource fragmentation. Dynamic Programming offers structured, path-level optimization. MILP provides globally optimal solutions but suffers from exponential growth and long solving time. Understanding their trade-offs helps determine practical deployment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4608C-C3A0-526A-01AF-D9B4D41B3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653C6-A00E-6198-7F15-9173D8B2A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AE528-FB45-089F-FF22-5C28B8E9DB71}"/>
              </a:ext>
            </a:extLst>
          </p:cNvPr>
          <p:cNvSpPr>
            <a:spLocks noGrp="1"/>
          </p:cNvSpPr>
          <p:nvPr>
            <p:ph type="body" idx="1"/>
          </p:nvPr>
        </p:nvSpPr>
        <p:spPr/>
        <p:txBody>
          <a:bodyPr/>
          <a:lstStyle/>
          <a:p>
            <a:r>
              <a:rPr lang="en-GB" dirty="0"/>
              <a:t>The Greedy algorithm evaluates paths in order and places VNFs on the earliest feasible nodes. It does not backtrack, meaning once resources are allocated, they cannot be rearranged. This simplicity ensures fast execution but often leads to fragmented resources, reducing the number of flows successfully placed.</a:t>
            </a:r>
            <a:endParaRPr lang="en-US" dirty="0"/>
          </a:p>
        </p:txBody>
      </p:sp>
      <p:sp>
        <p:nvSpPr>
          <p:cNvPr id="4" name="Slide Number Placeholder 3">
            <a:extLst>
              <a:ext uri="{FF2B5EF4-FFF2-40B4-BE49-F238E27FC236}">
                <a16:creationId xmlns:a16="http://schemas.microsoft.com/office/drawing/2014/main" id="{A5EA8A1E-6444-43D6-AD44-162804EF298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77562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EDD81-0736-D9F6-42AA-759E54629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27784-D8B6-C252-9F64-35364C700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44649-B5B1-C432-0716-6AE4D69C19E6}"/>
              </a:ext>
            </a:extLst>
          </p:cNvPr>
          <p:cNvSpPr>
            <a:spLocks noGrp="1"/>
          </p:cNvSpPr>
          <p:nvPr>
            <p:ph type="body" idx="1"/>
          </p:nvPr>
        </p:nvSpPr>
        <p:spPr/>
        <p:txBody>
          <a:bodyPr/>
          <a:lstStyle/>
          <a:p>
            <a:r>
              <a:rPr lang="en-GB" dirty="0"/>
              <a:t>DP examines all possible placements for each VNF across nodes along a single path. It computes the minimum cumulative cost by ensuring VNF order and resource constraints are respected. The example shows how DP determines the cheapest valid mapping using latency and processing costs, outperforming Greedy in structure and optimality.</a:t>
            </a:r>
            <a:endParaRPr lang="en-US" dirty="0"/>
          </a:p>
        </p:txBody>
      </p:sp>
      <p:sp>
        <p:nvSpPr>
          <p:cNvPr id="4" name="Slide Number Placeholder 3">
            <a:extLst>
              <a:ext uri="{FF2B5EF4-FFF2-40B4-BE49-F238E27FC236}">
                <a16:creationId xmlns:a16="http://schemas.microsoft.com/office/drawing/2014/main" id="{C4FFF644-6556-542C-75F3-45CCAC468AA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44666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9CC7-45D8-9723-1700-26E4C7892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CA0BC-562B-BDB4-FB42-AE44E38A98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181F5-B939-0788-A2E6-3EFE9600384A}"/>
              </a:ext>
            </a:extLst>
          </p:cNvPr>
          <p:cNvSpPr>
            <a:spLocks noGrp="1"/>
          </p:cNvSpPr>
          <p:nvPr>
            <p:ph type="body" idx="1"/>
          </p:nvPr>
        </p:nvSpPr>
        <p:spPr/>
        <p:txBody>
          <a:bodyPr/>
          <a:lstStyle/>
          <a:p>
            <a:r>
              <a:rPr lang="en-GB" dirty="0"/>
              <a:t>MILP models the entire placement process mathematically using decision variables. It jointly optimizes VNF-node assignments, path decisions, and flow acceptance while satisfying resource constraints. MILP achieves the best performance but requires high computational time, limiting its use to smaller or medium-sized networks.</a:t>
            </a:r>
            <a:endParaRPr lang="en-US" dirty="0"/>
          </a:p>
        </p:txBody>
      </p:sp>
      <p:sp>
        <p:nvSpPr>
          <p:cNvPr id="4" name="Slide Number Placeholder 3">
            <a:extLst>
              <a:ext uri="{FF2B5EF4-FFF2-40B4-BE49-F238E27FC236}">
                <a16:creationId xmlns:a16="http://schemas.microsoft.com/office/drawing/2014/main" id="{844FE279-16F0-F8F3-55B9-EC1BFDC76B3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46237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2FA8-FCF3-771F-6B02-949A9E9EB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753F2-F5DC-6E1A-4758-CFB601CA1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1278A-57F7-C99D-ADC1-137B8C81CA1C}"/>
              </a:ext>
            </a:extLst>
          </p:cNvPr>
          <p:cNvSpPr>
            <a:spLocks noGrp="1"/>
          </p:cNvSpPr>
          <p:nvPr>
            <p:ph type="body" idx="1"/>
          </p:nvPr>
        </p:nvSpPr>
        <p:spPr/>
        <p:txBody>
          <a:bodyPr/>
          <a:lstStyle/>
          <a:p>
            <a:r>
              <a:rPr lang="en-GB" dirty="0"/>
              <a:t>The architecture processes flows through a classifier, assigns the correct SFC chain, and invokes the appropriate placement algorithm. The orchestrator maintains ordering rules, while the placement engine computes feasible mappings. All experiments use the </a:t>
            </a:r>
            <a:r>
              <a:rPr lang="en-GB" dirty="0" err="1"/>
              <a:t>NSFNet</a:t>
            </a:r>
            <a:r>
              <a:rPr lang="en-GB" dirty="0"/>
              <a:t> topology to ensure realistic, repeatable evaluation.</a:t>
            </a:r>
            <a:endParaRPr lang="en-US" dirty="0"/>
          </a:p>
        </p:txBody>
      </p:sp>
      <p:sp>
        <p:nvSpPr>
          <p:cNvPr id="4" name="Slide Number Placeholder 3">
            <a:extLst>
              <a:ext uri="{FF2B5EF4-FFF2-40B4-BE49-F238E27FC236}">
                <a16:creationId xmlns:a16="http://schemas.microsoft.com/office/drawing/2014/main" id="{D520DE93-FAED-351A-D21A-5AEE3103A26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4840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57D2D-E5C3-72BE-CF41-FFA5CA27F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D1FF0F-F6C2-8110-035A-3A7A6DE5F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F0D89-EBAF-C601-B5CE-6F0CC767E35D}"/>
              </a:ext>
            </a:extLst>
          </p:cNvPr>
          <p:cNvSpPr>
            <a:spLocks noGrp="1"/>
          </p:cNvSpPr>
          <p:nvPr>
            <p:ph type="body" idx="1"/>
          </p:nvPr>
        </p:nvSpPr>
        <p:spPr/>
        <p:txBody>
          <a:bodyPr/>
          <a:lstStyle/>
          <a:p>
            <a:r>
              <a:rPr lang="en-IN" dirty="0"/>
              <a:t>The </a:t>
            </a:r>
            <a:r>
              <a:rPr lang="en-IN" dirty="0" err="1"/>
              <a:t>NSFNet</a:t>
            </a:r>
            <a:r>
              <a:rPr lang="en-IN" dirty="0"/>
              <a:t> topology provides a realistic and commonly used backbone network model. Nodes and links include randomized CPU and bandwidth capacities. We evaluated placement algorithms using multiple SFC lengths and bandwidth demands to ensure fair, comprehensive performance analysis across different levels of network load.</a:t>
            </a:r>
            <a:endParaRPr lang="en-US" dirty="0"/>
          </a:p>
        </p:txBody>
      </p:sp>
      <p:sp>
        <p:nvSpPr>
          <p:cNvPr id="4" name="Slide Number Placeholder 3">
            <a:extLst>
              <a:ext uri="{FF2B5EF4-FFF2-40B4-BE49-F238E27FC236}">
                <a16:creationId xmlns:a16="http://schemas.microsoft.com/office/drawing/2014/main" id="{E8C9AFB2-412E-A108-1BE5-3E2FB1D5D94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10721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EA432-B3E3-2868-ADDD-3BE1C20AA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EB8EE-1A17-E78D-EB66-8CE2A5458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FCACB6-FA36-323A-C152-CEE9612A8D3D}"/>
              </a:ext>
            </a:extLst>
          </p:cNvPr>
          <p:cNvSpPr>
            <a:spLocks noGrp="1"/>
          </p:cNvSpPr>
          <p:nvPr>
            <p:ph type="body" idx="1"/>
          </p:nvPr>
        </p:nvSpPr>
        <p:spPr/>
        <p:txBody>
          <a:bodyPr/>
          <a:lstStyle/>
          <a:p>
            <a:r>
              <a:rPr lang="en-GB" dirty="0"/>
              <a:t>MILP significantly outperforms both Greedy and DP by reducing fragmentation and maximizing overall resource utilization. The heuristics perform similarly because both commit resources early and struggle under higher loads, resulting in many rejected flows under resource-limited conditions</a:t>
            </a:r>
            <a:endParaRPr lang="en-US" dirty="0"/>
          </a:p>
        </p:txBody>
      </p:sp>
      <p:sp>
        <p:nvSpPr>
          <p:cNvPr id="4" name="Slide Number Placeholder 3">
            <a:extLst>
              <a:ext uri="{FF2B5EF4-FFF2-40B4-BE49-F238E27FC236}">
                <a16:creationId xmlns:a16="http://schemas.microsoft.com/office/drawing/2014/main" id="{BFD8F9EE-74C7-8400-2C5B-2306FF8968D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12703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E3123-E75D-FB82-E209-5D38E0716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17FB2-9428-D49E-8346-5946AF906C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9C103-A9C3-DDAD-6C22-B08DF3CFA9B4}"/>
              </a:ext>
            </a:extLst>
          </p:cNvPr>
          <p:cNvSpPr>
            <a:spLocks noGrp="1"/>
          </p:cNvSpPr>
          <p:nvPr>
            <p:ph type="body" idx="1"/>
          </p:nvPr>
        </p:nvSpPr>
        <p:spPr/>
        <p:txBody>
          <a:bodyPr/>
          <a:lstStyle/>
          <a:p>
            <a:r>
              <a:rPr lang="en-GB" dirty="0"/>
              <a:t>MILP achieves lower latency due to optimal path and node selection, while Greedy and DP only appear low-latency because they accept fewer flows. MILP’s higher CPU usage reflects better overall resource activation and improved load distribution across nodes.</a:t>
            </a:r>
            <a:endParaRPr lang="en-US" dirty="0"/>
          </a:p>
        </p:txBody>
      </p:sp>
      <p:sp>
        <p:nvSpPr>
          <p:cNvPr id="4" name="Slide Number Placeholder 3">
            <a:extLst>
              <a:ext uri="{FF2B5EF4-FFF2-40B4-BE49-F238E27FC236}">
                <a16:creationId xmlns:a16="http://schemas.microsoft.com/office/drawing/2014/main" id="{06931C67-37B2-4A88-7551-7A9FC6AC8F0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0951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73670-55AB-A3AC-811D-83732728F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525E5-CAC4-2ADE-939F-A27D4924E8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965CB-17C2-0C2A-41C1-669FF46FCCC9}"/>
              </a:ext>
            </a:extLst>
          </p:cNvPr>
          <p:cNvSpPr>
            <a:spLocks noGrp="1"/>
          </p:cNvSpPr>
          <p:nvPr>
            <p:ph type="body" idx="1"/>
          </p:nvPr>
        </p:nvSpPr>
        <p:spPr/>
        <p:txBody>
          <a:bodyPr/>
          <a:lstStyle/>
          <a:p>
            <a:r>
              <a:rPr lang="en-GB" dirty="0"/>
              <a:t>This example shows how MILP maps an SFC across the network. By distributing VNFs across nodes with sufficient CPU and using high-bandwidth links, MILP maintains feasibility while reducing overall latency. This balanced mapping demonstrates why MILP achieves the highest acceptance and best QoS results</a:t>
            </a:r>
            <a:endParaRPr lang="en-US" dirty="0"/>
          </a:p>
        </p:txBody>
      </p:sp>
      <p:sp>
        <p:nvSpPr>
          <p:cNvPr id="4" name="Slide Number Placeholder 3">
            <a:extLst>
              <a:ext uri="{FF2B5EF4-FFF2-40B4-BE49-F238E27FC236}">
                <a16:creationId xmlns:a16="http://schemas.microsoft.com/office/drawing/2014/main" id="{B340C7E2-F5AC-8C15-79AC-77C1C4826B5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23304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58A8F-12B8-E037-ABC3-B146D1B06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83E7D-5EB7-8677-77DC-39FBBEAB5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6457A-B69C-A7F8-A90C-1DAB97317F66}"/>
              </a:ext>
            </a:extLst>
          </p:cNvPr>
          <p:cNvSpPr>
            <a:spLocks noGrp="1"/>
          </p:cNvSpPr>
          <p:nvPr>
            <p:ph type="body" idx="1"/>
          </p:nvPr>
        </p:nvSpPr>
        <p:spPr/>
        <p:txBody>
          <a:bodyPr/>
          <a:lstStyle/>
          <a:p>
            <a:r>
              <a:rPr lang="en-GB" dirty="0"/>
              <a:t>The comparative analysis highlights how each approach performs under different conditions. MILP produces the most reliable results but at high computational cost. DP provides improved structure while remaining practical. Greedy offers speed at the cost of quality. Introducing protocol-awareness delivers measurable improvements for TCP and Non-TCP traffic</a:t>
            </a:r>
            <a:endParaRPr lang="en-US" dirty="0"/>
          </a:p>
        </p:txBody>
      </p:sp>
      <p:sp>
        <p:nvSpPr>
          <p:cNvPr id="4" name="Slide Number Placeholder 3">
            <a:extLst>
              <a:ext uri="{FF2B5EF4-FFF2-40B4-BE49-F238E27FC236}">
                <a16:creationId xmlns:a16="http://schemas.microsoft.com/office/drawing/2014/main" id="{1543F985-45DC-7A91-7005-193C54E39B7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87404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CA640-9345-2257-A1CE-E4301381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3836A-0404-4DEB-1494-39A0165CE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8548E-C077-C8FA-7F4B-EFCE54B88AB0}"/>
              </a:ext>
            </a:extLst>
          </p:cNvPr>
          <p:cNvSpPr>
            <a:spLocks noGrp="1"/>
          </p:cNvSpPr>
          <p:nvPr>
            <p:ph type="body" idx="1"/>
          </p:nvPr>
        </p:nvSpPr>
        <p:spPr/>
        <p:txBody>
          <a:bodyPr/>
          <a:lstStyle/>
          <a:p>
            <a:r>
              <a:rPr lang="en-GB" dirty="0"/>
              <a:t>In summary, integrating protocol awareness with structured placement algorithms substantially improves SFC performance. While MILP offers optimal results, its scalability limits motivate future studies using learning-based or hybrid methods. Expanding to real-time environments and live traffic is a promising direction</a:t>
            </a:r>
            <a:endParaRPr lang="en-US" dirty="0"/>
          </a:p>
        </p:txBody>
      </p:sp>
      <p:sp>
        <p:nvSpPr>
          <p:cNvPr id="4" name="Slide Number Placeholder 3">
            <a:extLst>
              <a:ext uri="{FF2B5EF4-FFF2-40B4-BE49-F238E27FC236}">
                <a16:creationId xmlns:a16="http://schemas.microsoft.com/office/drawing/2014/main" id="{78A6A47A-3F14-2784-E47B-9F20931A8FC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729851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42158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userDrawn="1"/>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3390/fi14020059" TargetMode="External"/><Relationship Id="rId7" Type="http://schemas.openxmlformats.org/officeDocument/2006/relationships/hyperlink" Target="https://doi.org/10.1109/access.2022.3222849" TargetMode="External"/><Relationship Id="rId2" Type="http://schemas.openxmlformats.org/officeDocument/2006/relationships/notesSlide" Target="../notesSlides/notesSlide18.xml"/><Relationship Id="rId1" Type="http://schemas.openxmlformats.org/officeDocument/2006/relationships/slideLayout" Target="../slideLayouts/slideLayout21.xml"/><Relationship Id="rId6" Type="http://schemas.openxmlformats.org/officeDocument/2006/relationships/hyperlink" Target="https://doi.org/10.1109/tnsm.2023.3264005" TargetMode="External"/><Relationship Id="rId5" Type="http://schemas.openxmlformats.org/officeDocument/2006/relationships/hyperlink" Target="https://doi.org/10.1007/s10586-022-03670-8" TargetMode="External"/><Relationship Id="rId4" Type="http://schemas.openxmlformats.org/officeDocument/2006/relationships/hyperlink" Target="https://doi.org/10.1109/jlt.2023.3260623"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84784"/>
            <a:ext cx="7556421" cy="3543895"/>
          </a:xfrm>
          <a:prstGeom prst="rect">
            <a:avLst/>
          </a:prstGeom>
          <a:noFill/>
          <a:ln/>
        </p:spPr>
        <p:txBody>
          <a:bodyPr wrap="square" lIns="0" tIns="0" rIns="0" bIns="0" rtlCol="0" anchor="t"/>
          <a:lstStyle/>
          <a:p>
            <a:pPr>
              <a:lnSpc>
                <a:spcPts val="5550"/>
              </a:lnSpc>
            </a:pPr>
            <a:r>
              <a:rPr lang="en-GB" sz="4450" b="1" dirty="0">
                <a:solidFill>
                  <a:srgbClr val="000000"/>
                </a:solidFill>
                <a:latin typeface="Inter Bold" pitchFamily="34" charset="0"/>
                <a:ea typeface="Inter Bold" pitchFamily="34" charset="-122"/>
                <a:cs typeface="Inter Bold" pitchFamily="34" charset="-120"/>
              </a:rPr>
              <a:t>TCP/NON-TCP-AWARE SERVICE FUNCTION CHAIN (SFC) PLACEMENT IN</a:t>
            </a:r>
          </a:p>
          <a:p>
            <a:pPr>
              <a:lnSpc>
                <a:spcPts val="5550"/>
              </a:lnSpc>
            </a:pPr>
            <a:r>
              <a:rPr lang="en-GB" sz="4450" b="1" dirty="0">
                <a:solidFill>
                  <a:srgbClr val="000000"/>
                </a:solidFill>
                <a:latin typeface="Inter Bold" pitchFamily="34" charset="0"/>
                <a:ea typeface="Inter Bold" pitchFamily="34" charset="-122"/>
                <a:cs typeface="Inter Bold" pitchFamily="34" charset="-120"/>
              </a:rPr>
              <a:t>NETWORK FUNCTION VIRTUALIZATION</a:t>
            </a:r>
            <a:endParaRPr lang="en-US" sz="4450" dirty="0"/>
          </a:p>
        </p:txBody>
      </p:sp>
      <p:sp>
        <p:nvSpPr>
          <p:cNvPr id="4" name="Text 1"/>
          <p:cNvSpPr/>
          <p:nvPr/>
        </p:nvSpPr>
        <p:spPr>
          <a:xfrm>
            <a:off x="793790" y="5719405"/>
            <a:ext cx="4472821"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Presented By Sri Sai Venna</a:t>
            </a:r>
            <a:endParaRPr lang="en-US" sz="2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15990" y="685800"/>
            <a:ext cx="4536519" cy="566976"/>
          </a:xfrm>
          <a:prstGeom prst="rect">
            <a:avLst/>
          </a:prstGeom>
          <a:noFill/>
          <a:ln/>
        </p:spPr>
        <p:txBody>
          <a:bodyPr wrap="none" lIns="0" tIns="0" rIns="0" bIns="0" rtlCol="0" anchor="t"/>
          <a:lstStyle/>
          <a:p>
            <a:pPr marL="0" indent="0" algn="l">
              <a:lnSpc>
                <a:spcPts val="4450"/>
              </a:lnSpc>
              <a:buNone/>
            </a:pPr>
            <a:r>
              <a:rPr lang="en-IN" sz="3200" b="1" dirty="0">
                <a:latin typeface="Inter" panose="020B0604020202020204" charset="0"/>
                <a:ea typeface="Inter" panose="020B0604020202020204" charset="0"/>
              </a:rPr>
              <a:t>PROBLEM INTRODUCTION</a:t>
            </a:r>
            <a:endParaRPr lang="en-US" sz="3200" b="1" dirty="0">
              <a:latin typeface="Inter" panose="020B0604020202020204" charset="0"/>
              <a:ea typeface="Inter" panose="020B0604020202020204" charset="0"/>
            </a:endParaRPr>
          </a:p>
        </p:txBody>
      </p:sp>
      <p:sp>
        <p:nvSpPr>
          <p:cNvPr id="3" name="Text 1"/>
          <p:cNvSpPr/>
          <p:nvPr/>
        </p:nvSpPr>
        <p:spPr>
          <a:xfrm>
            <a:off x="969634" y="1764468"/>
            <a:ext cx="8365749" cy="5810666"/>
          </a:xfrm>
          <a:prstGeom prst="rect">
            <a:avLst/>
          </a:prstGeom>
          <a:noFill/>
          <a:ln/>
        </p:spPr>
        <p:txBody>
          <a:bodyPr wrap="square" lIns="0" tIns="0" rIns="0" bIns="0" rtlCol="0" anchor="t"/>
          <a:lstStyle/>
          <a:p>
            <a:pPr>
              <a:lnSpc>
                <a:spcPct val="200000"/>
              </a:lnSpc>
              <a:buFont typeface="Arial" panose="020B0604020202020204" pitchFamily="34" charset="0"/>
              <a:buChar char="•"/>
            </a:pPr>
            <a:r>
              <a:rPr lang="en-GB" sz="2400" dirty="0">
                <a:latin typeface="Inter" panose="020B0604020202020204" charset="0"/>
                <a:ea typeface="Inter" panose="020B0604020202020204" charset="0"/>
              </a:rPr>
              <a:t>Existing SFC placement treats all traffic types the same.</a:t>
            </a:r>
          </a:p>
          <a:p>
            <a:pPr>
              <a:lnSpc>
                <a:spcPct val="200000"/>
              </a:lnSpc>
              <a:buFont typeface="Arial" panose="020B0604020202020204" pitchFamily="34" charset="0"/>
              <a:buChar char="•"/>
            </a:pPr>
            <a:r>
              <a:rPr lang="en-GB" sz="2400" dirty="0">
                <a:latin typeface="Inter" panose="020B0604020202020204" charset="0"/>
                <a:ea typeface="Inter" panose="020B0604020202020204" charset="0"/>
              </a:rPr>
              <a:t>TCP requires </a:t>
            </a:r>
            <a:r>
              <a:rPr lang="en-GB" sz="2400" b="1" dirty="0">
                <a:latin typeface="Inter" panose="020B0604020202020204" charset="0"/>
                <a:ea typeface="Inter" panose="020B0604020202020204" charset="0"/>
              </a:rPr>
              <a:t>low latency</a:t>
            </a:r>
            <a:r>
              <a:rPr lang="en-GB" sz="2400" dirty="0">
                <a:latin typeface="Inter" panose="020B0604020202020204" charset="0"/>
                <a:ea typeface="Inter" panose="020B0604020202020204" charset="0"/>
              </a:rPr>
              <a:t>, while Non-TCP requires </a:t>
            </a:r>
            <a:r>
              <a:rPr lang="en-GB" sz="2400" b="1" dirty="0">
                <a:latin typeface="Inter" panose="020B0604020202020204" charset="0"/>
                <a:ea typeface="Inter" panose="020B0604020202020204" charset="0"/>
              </a:rPr>
              <a:t>high throughput</a:t>
            </a:r>
            <a:r>
              <a:rPr lang="en-GB" sz="2400" dirty="0">
                <a:latin typeface="Inter" panose="020B0604020202020204" charset="0"/>
                <a:ea typeface="Inter" panose="020B0604020202020204" charset="0"/>
              </a:rPr>
              <a:t>.</a:t>
            </a:r>
          </a:p>
          <a:p>
            <a:pPr>
              <a:lnSpc>
                <a:spcPct val="200000"/>
              </a:lnSpc>
              <a:buFont typeface="Arial" panose="020B0604020202020204" pitchFamily="34" charset="0"/>
              <a:buChar char="•"/>
            </a:pPr>
            <a:r>
              <a:rPr lang="en-GB" sz="2400" dirty="0">
                <a:latin typeface="Inter" panose="020B0604020202020204" charset="0"/>
                <a:ea typeface="Inter" panose="020B0604020202020204" charset="0"/>
              </a:rPr>
              <a:t>Traffic-agnostic mapping causes bottlenecks, fragmentation, and high rejection rates.</a:t>
            </a:r>
          </a:p>
          <a:p>
            <a:pPr>
              <a:lnSpc>
                <a:spcPct val="200000"/>
              </a:lnSpc>
              <a:buFont typeface="Arial" panose="020B0604020202020204" pitchFamily="34" charset="0"/>
              <a:buChar char="•"/>
            </a:pPr>
            <a:r>
              <a:rPr lang="en-GB" sz="2400" dirty="0">
                <a:latin typeface="Inter" panose="020B0604020202020204" charset="0"/>
                <a:ea typeface="Inter" panose="020B0604020202020204" charset="0"/>
              </a:rPr>
              <a:t>Need a </a:t>
            </a:r>
            <a:r>
              <a:rPr lang="en-GB" sz="2400" b="1" dirty="0">
                <a:latin typeface="Inter" panose="020B0604020202020204" charset="0"/>
                <a:ea typeface="Inter" panose="020B0604020202020204" charset="0"/>
              </a:rPr>
              <a:t>protocol-aware placement system</a:t>
            </a:r>
            <a:r>
              <a:rPr lang="en-GB" sz="2400" dirty="0">
                <a:latin typeface="Inter" panose="020B0604020202020204" charset="0"/>
                <a:ea typeface="Inter" panose="020B0604020202020204" charset="0"/>
              </a:rPr>
              <a:t> to optimize QoS for both traffic classes.</a:t>
            </a:r>
          </a:p>
          <a:p>
            <a:pPr>
              <a:lnSpc>
                <a:spcPct val="200000"/>
              </a:lnSpc>
            </a:pPr>
            <a:endParaRPr lang="en-GB" sz="2400" dirty="0">
              <a:solidFill>
                <a:srgbClr val="272525"/>
              </a:solidFill>
              <a:latin typeface="Inter" panose="020B0604020202020204" charset="0"/>
              <a:ea typeface="Inter" panose="020B0604020202020204" charset="0"/>
              <a:cs typeface="Inter" pitchFamily="34" charset="-120"/>
            </a:endParaRPr>
          </a:p>
        </p:txBody>
      </p:sp>
      <p:pic>
        <p:nvPicPr>
          <p:cNvPr id="22" name="Picture 21">
            <a:extLst>
              <a:ext uri="{FF2B5EF4-FFF2-40B4-BE49-F238E27FC236}">
                <a16:creationId xmlns:a16="http://schemas.microsoft.com/office/drawing/2014/main" id="{E17D0C37-A1A7-2354-09E7-5B0F2CBE5C03}"/>
              </a:ext>
            </a:extLst>
          </p:cNvPr>
          <p:cNvPicPr>
            <a:picLocks noChangeAspect="1"/>
          </p:cNvPicPr>
          <p:nvPr/>
        </p:nvPicPr>
        <p:blipFill>
          <a:blip r:embed="rId3"/>
          <a:stretch>
            <a:fillRect/>
          </a:stretch>
        </p:blipFill>
        <p:spPr>
          <a:xfrm>
            <a:off x="9711452" y="2664029"/>
            <a:ext cx="4622801" cy="3711371"/>
          </a:xfrm>
          <a:prstGeom prst="rect">
            <a:avLst/>
          </a:prstGeom>
          <a:ln>
            <a:solidFill>
              <a:schemeClr val="tx1"/>
            </a:solidFill>
          </a:ln>
        </p:spPr>
      </p:pic>
      <p:sp>
        <p:nvSpPr>
          <p:cNvPr id="24" name="TextBox 23">
            <a:extLst>
              <a:ext uri="{FF2B5EF4-FFF2-40B4-BE49-F238E27FC236}">
                <a16:creationId xmlns:a16="http://schemas.microsoft.com/office/drawing/2014/main" id="{1531497A-EEAB-691D-BE95-64E9C717FF74}"/>
              </a:ext>
            </a:extLst>
          </p:cNvPr>
          <p:cNvSpPr txBox="1"/>
          <p:nvPr/>
        </p:nvSpPr>
        <p:spPr>
          <a:xfrm>
            <a:off x="10790881" y="6794090"/>
            <a:ext cx="3543372" cy="369332"/>
          </a:xfrm>
          <a:prstGeom prst="rect">
            <a:avLst/>
          </a:prstGeom>
          <a:noFill/>
        </p:spPr>
        <p:txBody>
          <a:bodyPr wrap="square" rtlCol="0">
            <a:spAutoFit/>
          </a:bodyPr>
          <a:lstStyle/>
          <a:p>
            <a:r>
              <a:rPr lang="en-IN" dirty="0"/>
              <a:t>(</a:t>
            </a:r>
            <a:r>
              <a:rPr lang="en-IN" dirty="0" err="1"/>
              <a:t>Bhamare</a:t>
            </a:r>
            <a:r>
              <a:rPr lang="en-IN" dirty="0"/>
              <a:t> et al., 2016)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24F41D-BB58-05D0-C3FC-5FA217BAB6A7}"/>
              </a:ext>
            </a:extLst>
          </p:cNvPr>
          <p:cNvSpPr txBox="1"/>
          <p:nvPr/>
        </p:nvSpPr>
        <p:spPr>
          <a:xfrm>
            <a:off x="609600" y="482314"/>
            <a:ext cx="10871200" cy="584775"/>
          </a:xfrm>
          <a:prstGeom prst="rect">
            <a:avLst/>
          </a:prstGeom>
          <a:noFill/>
        </p:spPr>
        <p:txBody>
          <a:bodyPr wrap="square" rtlCol="0">
            <a:spAutoFit/>
          </a:bodyPr>
          <a:lstStyle/>
          <a:p>
            <a:r>
              <a:rPr lang="en-IN" sz="3200" b="1" dirty="0">
                <a:latin typeface="Inter" panose="020B0604020202020204" charset="0"/>
                <a:ea typeface="Inter" panose="020B0604020202020204" charset="0"/>
              </a:rPr>
              <a:t>WHAT IS NFV?</a:t>
            </a:r>
          </a:p>
        </p:txBody>
      </p:sp>
      <p:sp>
        <p:nvSpPr>
          <p:cNvPr id="3" name="TextBox 2">
            <a:extLst>
              <a:ext uri="{FF2B5EF4-FFF2-40B4-BE49-F238E27FC236}">
                <a16:creationId xmlns:a16="http://schemas.microsoft.com/office/drawing/2014/main" id="{1F4A549D-0E18-3367-6F84-9E3F4110ABE1}"/>
              </a:ext>
            </a:extLst>
          </p:cNvPr>
          <p:cNvSpPr txBox="1"/>
          <p:nvPr/>
        </p:nvSpPr>
        <p:spPr>
          <a:xfrm>
            <a:off x="965200" y="1320909"/>
            <a:ext cx="7620000" cy="6259919"/>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en-IN" sz="2400" b="1" dirty="0">
                <a:latin typeface="Inter" panose="020B0604020202020204" charset="0"/>
                <a:ea typeface="Inter" panose="020B0604020202020204" charset="0"/>
              </a:rPr>
              <a:t>Network Function Virtualization (NFV)</a:t>
            </a:r>
          </a:p>
          <a:p>
            <a:pPr marL="342900" indent="-342900">
              <a:lnSpc>
                <a:spcPct val="200000"/>
              </a:lnSpc>
              <a:buFont typeface="Arial" panose="020B0604020202020204" pitchFamily="34" charset="0"/>
              <a:buChar char="•"/>
            </a:pPr>
            <a:r>
              <a:rPr lang="en-IN" sz="2400" dirty="0">
                <a:latin typeface="Inter" panose="020B0604020202020204" charset="0"/>
                <a:ea typeface="Inter" panose="020B0604020202020204" charset="0"/>
              </a:rPr>
              <a:t>Replaces hardware appliances with VNFs running on commodity servers.</a:t>
            </a:r>
          </a:p>
          <a:p>
            <a:pPr marL="342900" indent="-342900">
              <a:lnSpc>
                <a:spcPct val="200000"/>
              </a:lnSpc>
              <a:buFont typeface="Arial" panose="020B0604020202020204" pitchFamily="34" charset="0"/>
              <a:buChar char="•"/>
            </a:pPr>
            <a:r>
              <a:rPr lang="en-IN" sz="2400" dirty="0">
                <a:latin typeface="Inter" panose="020B0604020202020204" charset="0"/>
                <a:ea typeface="Inter" panose="020B0604020202020204" charset="0"/>
              </a:rPr>
              <a:t>Enables flexibility, cost savings, and easy scaling.</a:t>
            </a:r>
          </a:p>
          <a:p>
            <a:pPr marL="342900" indent="-342900">
              <a:lnSpc>
                <a:spcPct val="150000"/>
              </a:lnSpc>
              <a:buFont typeface="Arial" panose="020B0604020202020204" pitchFamily="34" charset="0"/>
              <a:buChar char="•"/>
            </a:pPr>
            <a:r>
              <a:rPr lang="en-IN" sz="2400" dirty="0">
                <a:latin typeface="Inter" panose="020B0604020202020204" charset="0"/>
                <a:ea typeface="Inter" panose="020B0604020202020204" charset="0"/>
              </a:rPr>
              <a:t>VNFs include: Firewall, NAT, DPI, Proxy, Load Balancer.</a:t>
            </a:r>
          </a:p>
          <a:p>
            <a:pPr marL="342900" indent="-342900">
              <a:lnSpc>
                <a:spcPct val="200000"/>
              </a:lnSpc>
              <a:buFont typeface="Arial" panose="020B0604020202020204" pitchFamily="34" charset="0"/>
              <a:buChar char="•"/>
            </a:pPr>
            <a:r>
              <a:rPr lang="en-IN" sz="2400" dirty="0">
                <a:latin typeface="Inter" panose="020B0604020202020204" charset="0"/>
                <a:ea typeface="Inter" panose="020B0604020202020204" charset="0"/>
              </a:rPr>
              <a:t>NFV + SFC helps customize network services per-flow.</a:t>
            </a:r>
          </a:p>
        </p:txBody>
      </p:sp>
      <p:pic>
        <p:nvPicPr>
          <p:cNvPr id="5" name="Picture 4">
            <a:extLst>
              <a:ext uri="{FF2B5EF4-FFF2-40B4-BE49-F238E27FC236}">
                <a16:creationId xmlns:a16="http://schemas.microsoft.com/office/drawing/2014/main" id="{2CD53B81-5DF9-522B-8255-7395BC6F2304}"/>
              </a:ext>
            </a:extLst>
          </p:cNvPr>
          <p:cNvPicPr>
            <a:picLocks noChangeAspect="1"/>
          </p:cNvPicPr>
          <p:nvPr/>
        </p:nvPicPr>
        <p:blipFill>
          <a:blip r:embed="rId3"/>
          <a:stretch>
            <a:fillRect/>
          </a:stretch>
        </p:blipFill>
        <p:spPr>
          <a:xfrm>
            <a:off x="8251308" y="2286000"/>
            <a:ext cx="6023492" cy="41286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226FA9C2-4484-0621-1815-B0363486C745}"/>
              </a:ext>
            </a:extLst>
          </p:cNvPr>
          <p:cNvSpPr txBox="1"/>
          <p:nvPr/>
        </p:nvSpPr>
        <p:spPr>
          <a:xfrm>
            <a:off x="736600" y="558800"/>
            <a:ext cx="12420600" cy="584775"/>
          </a:xfrm>
          <a:prstGeom prst="rect">
            <a:avLst/>
          </a:prstGeom>
          <a:noFill/>
        </p:spPr>
        <p:txBody>
          <a:bodyPr wrap="square" rtlCol="0">
            <a:spAutoFit/>
          </a:bodyPr>
          <a:lstStyle/>
          <a:p>
            <a:r>
              <a:rPr lang="en-IN" sz="3200" b="1" dirty="0">
                <a:latin typeface="Inter" panose="020B0604020202020204" charset="0"/>
                <a:ea typeface="Inter" panose="020B0604020202020204" charset="0"/>
              </a:rPr>
              <a:t>WHAT IS SFC?</a:t>
            </a:r>
          </a:p>
        </p:txBody>
      </p:sp>
      <p:sp>
        <p:nvSpPr>
          <p:cNvPr id="26" name="TextBox 25">
            <a:extLst>
              <a:ext uri="{FF2B5EF4-FFF2-40B4-BE49-F238E27FC236}">
                <a16:creationId xmlns:a16="http://schemas.microsoft.com/office/drawing/2014/main" id="{0C278B7C-EEDE-3DBA-4929-284EF1E6DDD8}"/>
              </a:ext>
            </a:extLst>
          </p:cNvPr>
          <p:cNvSpPr txBox="1"/>
          <p:nvPr/>
        </p:nvSpPr>
        <p:spPr>
          <a:xfrm>
            <a:off x="1270000" y="1168975"/>
            <a:ext cx="8026400" cy="6629251"/>
          </a:xfrm>
          <a:prstGeom prst="rect">
            <a:avLst/>
          </a:prstGeom>
          <a:noFill/>
        </p:spPr>
        <p:txBody>
          <a:bodyPr wrap="square" rtlCol="0">
            <a:spAutoFit/>
          </a:bodyPr>
          <a:lstStyle/>
          <a:p>
            <a:pPr>
              <a:lnSpc>
                <a:spcPct val="200000"/>
              </a:lnSpc>
            </a:pPr>
            <a:r>
              <a:rPr lang="en-GB" sz="2400" b="1" dirty="0">
                <a:latin typeface="Inter" panose="020B0604020202020204" charset="0"/>
                <a:ea typeface="Inter" panose="020B0604020202020204" charset="0"/>
              </a:rPr>
              <a:t>Service Function Chain (SFC)</a:t>
            </a:r>
          </a:p>
          <a:p>
            <a:pPr>
              <a:lnSpc>
                <a:spcPct val="200000"/>
              </a:lnSpc>
            </a:pPr>
            <a:r>
              <a:rPr lang="en-GB" sz="2400" dirty="0">
                <a:latin typeface="Inter" panose="020B0604020202020204" charset="0"/>
                <a:ea typeface="Inter" panose="020B0604020202020204" charset="0"/>
              </a:rPr>
              <a:t>An SFC is an ordered sequence of VNFs applied to a flow.</a:t>
            </a:r>
            <a:br>
              <a:rPr lang="en-GB" sz="2400" dirty="0">
                <a:latin typeface="Inter" panose="020B0604020202020204" charset="0"/>
                <a:ea typeface="Inter" panose="020B0604020202020204" charset="0"/>
              </a:rPr>
            </a:br>
            <a:r>
              <a:rPr lang="en-GB" sz="2400" dirty="0">
                <a:latin typeface="Inter" panose="020B0604020202020204" charset="0"/>
                <a:ea typeface="Inter" panose="020B0604020202020204" charset="0"/>
              </a:rPr>
              <a:t>Example:</a:t>
            </a:r>
            <a:br>
              <a:rPr lang="en-GB" sz="2400" dirty="0">
                <a:latin typeface="Inter" panose="020B0604020202020204" charset="0"/>
                <a:ea typeface="Inter" panose="020B0604020202020204" charset="0"/>
              </a:rPr>
            </a:br>
            <a:r>
              <a:rPr lang="en-GB" sz="2400" b="1" dirty="0">
                <a:latin typeface="Inter" panose="020B0604020202020204" charset="0"/>
                <a:ea typeface="Inter" panose="020B0604020202020204" charset="0"/>
              </a:rPr>
              <a:t>Firewall → Encryption → NAT</a:t>
            </a:r>
            <a:endParaRPr lang="en-GB" sz="2400" dirty="0">
              <a:latin typeface="Inter" panose="020B0604020202020204" charset="0"/>
              <a:ea typeface="Inter" panose="020B0604020202020204" charset="0"/>
            </a:endParaRPr>
          </a:p>
          <a:p>
            <a:pPr>
              <a:lnSpc>
                <a:spcPct val="200000"/>
              </a:lnSpc>
            </a:pPr>
            <a:r>
              <a:rPr lang="en-GB" sz="2400" dirty="0">
                <a:latin typeface="Inter" panose="020B0604020202020204" charset="0"/>
                <a:ea typeface="Inter" panose="020B0604020202020204" charset="0"/>
              </a:rPr>
              <a:t>Each VNF has:</a:t>
            </a:r>
          </a:p>
          <a:p>
            <a:pPr>
              <a:lnSpc>
                <a:spcPct val="200000"/>
              </a:lnSpc>
              <a:buFont typeface="Arial" panose="020B0604020202020204" pitchFamily="34" charset="0"/>
              <a:buChar char="•"/>
            </a:pPr>
            <a:r>
              <a:rPr lang="en-GB" sz="2400" dirty="0">
                <a:latin typeface="Inter" panose="020B0604020202020204" charset="0"/>
                <a:ea typeface="Inter" panose="020B0604020202020204" charset="0"/>
              </a:rPr>
              <a:t>CPU requirement</a:t>
            </a:r>
          </a:p>
          <a:p>
            <a:pPr>
              <a:lnSpc>
                <a:spcPct val="200000"/>
              </a:lnSpc>
              <a:buFont typeface="Arial" panose="020B0604020202020204" pitchFamily="34" charset="0"/>
              <a:buChar char="•"/>
            </a:pPr>
            <a:r>
              <a:rPr lang="en-GB" sz="2400" dirty="0">
                <a:latin typeface="Inter" panose="020B0604020202020204" charset="0"/>
                <a:ea typeface="Inter" panose="020B0604020202020204" charset="0"/>
              </a:rPr>
              <a:t>Bandwidth requirement</a:t>
            </a:r>
          </a:p>
          <a:p>
            <a:pPr>
              <a:lnSpc>
                <a:spcPct val="200000"/>
              </a:lnSpc>
              <a:buFont typeface="Arial" panose="020B0604020202020204" pitchFamily="34" charset="0"/>
              <a:buChar char="•"/>
            </a:pPr>
            <a:r>
              <a:rPr lang="en-GB" sz="2400" dirty="0">
                <a:latin typeface="Inter" panose="020B0604020202020204" charset="0"/>
                <a:ea typeface="Inter" panose="020B0604020202020204" charset="0"/>
              </a:rPr>
              <a:t>Processing delay</a:t>
            </a:r>
          </a:p>
        </p:txBody>
      </p:sp>
      <p:pic>
        <p:nvPicPr>
          <p:cNvPr id="28" name="Picture 27">
            <a:extLst>
              <a:ext uri="{FF2B5EF4-FFF2-40B4-BE49-F238E27FC236}">
                <a16:creationId xmlns:a16="http://schemas.microsoft.com/office/drawing/2014/main" id="{3E26480B-630D-AC31-E810-0428D6BF68E1}"/>
              </a:ext>
            </a:extLst>
          </p:cNvPr>
          <p:cNvPicPr>
            <a:picLocks noChangeAspect="1"/>
          </p:cNvPicPr>
          <p:nvPr/>
        </p:nvPicPr>
        <p:blipFill>
          <a:blip r:embed="rId3"/>
          <a:srcRect r="68385"/>
          <a:stretch/>
        </p:blipFill>
        <p:spPr>
          <a:xfrm>
            <a:off x="6432550" y="2806955"/>
            <a:ext cx="4216737" cy="2426766"/>
          </a:xfrm>
          <a:prstGeom prst="rect">
            <a:avLst/>
          </a:prstGeom>
        </p:spPr>
      </p:pic>
      <p:pic>
        <p:nvPicPr>
          <p:cNvPr id="30" name="Picture 29">
            <a:extLst>
              <a:ext uri="{FF2B5EF4-FFF2-40B4-BE49-F238E27FC236}">
                <a16:creationId xmlns:a16="http://schemas.microsoft.com/office/drawing/2014/main" id="{C6CF6186-9446-E8CD-1F97-01950B681B76}"/>
              </a:ext>
            </a:extLst>
          </p:cNvPr>
          <p:cNvPicPr>
            <a:picLocks noChangeAspect="1"/>
          </p:cNvPicPr>
          <p:nvPr/>
        </p:nvPicPr>
        <p:blipFill>
          <a:blip r:embed="rId3"/>
          <a:srcRect l="31464" r="47753"/>
          <a:stretch/>
        </p:blipFill>
        <p:spPr>
          <a:xfrm>
            <a:off x="11517248" y="927401"/>
            <a:ext cx="2528952" cy="2426766"/>
          </a:xfrm>
          <a:prstGeom prst="rect">
            <a:avLst/>
          </a:prstGeom>
        </p:spPr>
      </p:pic>
      <p:pic>
        <p:nvPicPr>
          <p:cNvPr id="32" name="Picture 31">
            <a:extLst>
              <a:ext uri="{FF2B5EF4-FFF2-40B4-BE49-F238E27FC236}">
                <a16:creationId xmlns:a16="http://schemas.microsoft.com/office/drawing/2014/main" id="{42A50F6B-6133-325C-6D35-2DADC1299FDA}"/>
              </a:ext>
            </a:extLst>
          </p:cNvPr>
          <p:cNvPicPr>
            <a:picLocks noChangeAspect="1"/>
          </p:cNvPicPr>
          <p:nvPr/>
        </p:nvPicPr>
        <p:blipFill>
          <a:blip r:embed="rId3"/>
          <a:srcRect l="52247" r="26970"/>
          <a:stretch/>
        </p:blipFill>
        <p:spPr>
          <a:xfrm>
            <a:off x="6111049" y="5199600"/>
            <a:ext cx="2863850" cy="2748132"/>
          </a:xfrm>
          <a:prstGeom prst="rect">
            <a:avLst/>
          </a:prstGeom>
        </p:spPr>
      </p:pic>
      <p:pic>
        <p:nvPicPr>
          <p:cNvPr id="34" name="Picture 33">
            <a:extLst>
              <a:ext uri="{FF2B5EF4-FFF2-40B4-BE49-F238E27FC236}">
                <a16:creationId xmlns:a16="http://schemas.microsoft.com/office/drawing/2014/main" id="{C22FFAEB-E977-62E1-7A1B-799C966F4FBC}"/>
              </a:ext>
            </a:extLst>
          </p:cNvPr>
          <p:cNvPicPr>
            <a:picLocks noChangeAspect="1"/>
          </p:cNvPicPr>
          <p:nvPr/>
        </p:nvPicPr>
        <p:blipFill>
          <a:blip r:embed="rId3"/>
          <a:srcRect l="73405" r="3939"/>
          <a:stretch/>
        </p:blipFill>
        <p:spPr>
          <a:xfrm>
            <a:off x="10930701" y="4975363"/>
            <a:ext cx="3206748" cy="28228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53534"/>
            <a:ext cx="5206246" cy="368618"/>
          </a:xfrm>
          <a:prstGeom prst="rect">
            <a:avLst/>
          </a:prstGeom>
          <a:noFill/>
          <a:ln/>
        </p:spPr>
        <p:txBody>
          <a:bodyPr wrap="none" lIns="0" tIns="0" rIns="0" bIns="0" rtlCol="0" anchor="t"/>
          <a:lstStyle/>
          <a:p>
            <a:pPr>
              <a:lnSpc>
                <a:spcPts val="2900"/>
              </a:lnSpc>
            </a:pPr>
            <a:r>
              <a:rPr lang="en-IN" sz="3200" b="1" dirty="0"/>
              <a:t>SFC REQUEST EXAMPLE</a:t>
            </a:r>
          </a:p>
          <a:p>
            <a:pPr marL="0" indent="0" algn="l">
              <a:lnSpc>
                <a:spcPts val="2900"/>
              </a:lnSpc>
              <a:buNone/>
            </a:pPr>
            <a:endParaRPr lang="en-US" sz="3200" dirty="0"/>
          </a:p>
        </p:txBody>
      </p:sp>
      <p:graphicFrame>
        <p:nvGraphicFramePr>
          <p:cNvPr id="3" name="Table 2">
            <a:extLst>
              <a:ext uri="{FF2B5EF4-FFF2-40B4-BE49-F238E27FC236}">
                <a16:creationId xmlns:a16="http://schemas.microsoft.com/office/drawing/2014/main" id="{BF15A949-B94E-26F2-7F91-ED27A04EA53B}"/>
              </a:ext>
            </a:extLst>
          </p:cNvPr>
          <p:cNvGraphicFramePr>
            <a:graphicFrameLocks noGrp="1"/>
          </p:cNvGraphicFramePr>
          <p:nvPr>
            <p:extLst>
              <p:ext uri="{D42A27DB-BD31-4B8C-83A1-F6EECF244321}">
                <p14:modId xmlns:p14="http://schemas.microsoft.com/office/powerpoint/2010/main" val="300634684"/>
              </p:ext>
            </p:extLst>
          </p:nvPr>
        </p:nvGraphicFramePr>
        <p:xfrm>
          <a:off x="2840304" y="1491076"/>
          <a:ext cx="7294296" cy="5247448"/>
        </p:xfrm>
        <a:graphic>
          <a:graphicData uri="http://schemas.openxmlformats.org/drawingml/2006/table">
            <a:tbl>
              <a:tblPr firstRow="1" bandRow="1">
                <a:tableStyleId>{5C22544A-7EE6-4342-B048-85BDC9FD1C3A}</a:tableStyleId>
              </a:tblPr>
              <a:tblGrid>
                <a:gridCol w="2355450">
                  <a:extLst>
                    <a:ext uri="{9D8B030D-6E8A-4147-A177-3AD203B41FA5}">
                      <a16:colId xmlns:a16="http://schemas.microsoft.com/office/drawing/2014/main" val="579702376"/>
                    </a:ext>
                  </a:extLst>
                </a:gridCol>
                <a:gridCol w="2507414">
                  <a:extLst>
                    <a:ext uri="{9D8B030D-6E8A-4147-A177-3AD203B41FA5}">
                      <a16:colId xmlns:a16="http://schemas.microsoft.com/office/drawing/2014/main" val="2067021744"/>
                    </a:ext>
                  </a:extLst>
                </a:gridCol>
                <a:gridCol w="2431432">
                  <a:extLst>
                    <a:ext uri="{9D8B030D-6E8A-4147-A177-3AD203B41FA5}">
                      <a16:colId xmlns:a16="http://schemas.microsoft.com/office/drawing/2014/main" val="262670199"/>
                    </a:ext>
                  </a:extLst>
                </a:gridCol>
              </a:tblGrid>
              <a:tr h="1311862">
                <a:tc>
                  <a:txBody>
                    <a:bodyPr/>
                    <a:lstStyle/>
                    <a:p>
                      <a:r>
                        <a:rPr lang="en-IN" dirty="0">
                          <a:latin typeface="Inter" panose="020B0604020202020204" charset="0"/>
                          <a:ea typeface="Inter" panose="020B0604020202020204" charset="0"/>
                        </a:rPr>
                        <a:t>VNF</a:t>
                      </a:r>
                    </a:p>
                  </a:txBody>
                  <a:tcPr anchor="ctr"/>
                </a:tc>
                <a:tc>
                  <a:txBody>
                    <a:bodyPr/>
                    <a:lstStyle/>
                    <a:p>
                      <a:r>
                        <a:rPr lang="en-IN">
                          <a:latin typeface="Inter" panose="020B0604020202020204" charset="0"/>
                          <a:ea typeface="Inter" panose="020B0604020202020204" charset="0"/>
                        </a:rPr>
                        <a:t>CPU</a:t>
                      </a:r>
                    </a:p>
                  </a:txBody>
                  <a:tcPr anchor="ctr"/>
                </a:tc>
                <a:tc>
                  <a:txBody>
                    <a:bodyPr/>
                    <a:lstStyle/>
                    <a:p>
                      <a:r>
                        <a:rPr lang="en-IN">
                          <a:latin typeface="Inter" panose="020B0604020202020204" charset="0"/>
                          <a:ea typeface="Inter" panose="020B0604020202020204" charset="0"/>
                        </a:rPr>
                        <a:t>Bandwidth</a:t>
                      </a:r>
                    </a:p>
                  </a:txBody>
                  <a:tcPr anchor="ctr"/>
                </a:tc>
                <a:extLst>
                  <a:ext uri="{0D108BD9-81ED-4DB2-BD59-A6C34878D82A}">
                    <a16:rowId xmlns:a16="http://schemas.microsoft.com/office/drawing/2014/main" val="2147869803"/>
                  </a:ext>
                </a:extLst>
              </a:tr>
              <a:tr h="1311862">
                <a:tc>
                  <a:txBody>
                    <a:bodyPr/>
                    <a:lstStyle/>
                    <a:p>
                      <a:r>
                        <a:rPr lang="en-IN">
                          <a:latin typeface="Inter" panose="020B0604020202020204" charset="0"/>
                          <a:ea typeface="Inter" panose="020B0604020202020204" charset="0"/>
                        </a:rPr>
                        <a:t>Firewall</a:t>
                      </a:r>
                    </a:p>
                  </a:txBody>
                  <a:tcPr anchor="ctr"/>
                </a:tc>
                <a:tc>
                  <a:txBody>
                    <a:bodyPr/>
                    <a:lstStyle/>
                    <a:p>
                      <a:r>
                        <a:rPr lang="en-IN">
                          <a:latin typeface="Inter" panose="020B0604020202020204" charset="0"/>
                          <a:ea typeface="Inter" panose="020B0604020202020204" charset="0"/>
                        </a:rPr>
                        <a:t>5 units</a:t>
                      </a:r>
                    </a:p>
                  </a:txBody>
                  <a:tcPr anchor="ctr"/>
                </a:tc>
                <a:tc>
                  <a:txBody>
                    <a:bodyPr/>
                    <a:lstStyle/>
                    <a:p>
                      <a:r>
                        <a:rPr lang="en-IN">
                          <a:latin typeface="Inter" panose="020B0604020202020204" charset="0"/>
                          <a:ea typeface="Inter" panose="020B0604020202020204" charset="0"/>
                        </a:rPr>
                        <a:t>15 Mbps</a:t>
                      </a:r>
                    </a:p>
                  </a:txBody>
                  <a:tcPr anchor="ctr"/>
                </a:tc>
                <a:extLst>
                  <a:ext uri="{0D108BD9-81ED-4DB2-BD59-A6C34878D82A}">
                    <a16:rowId xmlns:a16="http://schemas.microsoft.com/office/drawing/2014/main" val="2305273400"/>
                  </a:ext>
                </a:extLst>
              </a:tr>
              <a:tr h="1311862">
                <a:tc>
                  <a:txBody>
                    <a:bodyPr/>
                    <a:lstStyle/>
                    <a:p>
                      <a:r>
                        <a:rPr lang="en-IN">
                          <a:latin typeface="Inter" panose="020B0604020202020204" charset="0"/>
                          <a:ea typeface="Inter" panose="020B0604020202020204" charset="0"/>
                        </a:rPr>
                        <a:t>Encryption</a:t>
                      </a:r>
                    </a:p>
                  </a:txBody>
                  <a:tcPr anchor="ctr"/>
                </a:tc>
                <a:tc>
                  <a:txBody>
                    <a:bodyPr/>
                    <a:lstStyle/>
                    <a:p>
                      <a:r>
                        <a:rPr lang="en-IN" dirty="0">
                          <a:latin typeface="Inter" panose="020B0604020202020204" charset="0"/>
                          <a:ea typeface="Inter" panose="020B0604020202020204" charset="0"/>
                        </a:rPr>
                        <a:t>12 units</a:t>
                      </a:r>
                    </a:p>
                  </a:txBody>
                  <a:tcPr anchor="ctr"/>
                </a:tc>
                <a:tc>
                  <a:txBody>
                    <a:bodyPr/>
                    <a:lstStyle/>
                    <a:p>
                      <a:r>
                        <a:rPr lang="en-IN">
                          <a:latin typeface="Inter" panose="020B0604020202020204" charset="0"/>
                          <a:ea typeface="Inter" panose="020B0604020202020204" charset="0"/>
                        </a:rPr>
                        <a:t>15 Mbps</a:t>
                      </a:r>
                    </a:p>
                  </a:txBody>
                  <a:tcPr anchor="ctr"/>
                </a:tc>
                <a:extLst>
                  <a:ext uri="{0D108BD9-81ED-4DB2-BD59-A6C34878D82A}">
                    <a16:rowId xmlns:a16="http://schemas.microsoft.com/office/drawing/2014/main" val="1432301593"/>
                  </a:ext>
                </a:extLst>
              </a:tr>
              <a:tr h="1311862">
                <a:tc>
                  <a:txBody>
                    <a:bodyPr/>
                    <a:lstStyle/>
                    <a:p>
                      <a:r>
                        <a:rPr lang="en-IN">
                          <a:latin typeface="Inter" panose="020B0604020202020204" charset="0"/>
                          <a:ea typeface="Inter" panose="020B0604020202020204" charset="0"/>
                        </a:rPr>
                        <a:t>NAT</a:t>
                      </a:r>
                    </a:p>
                  </a:txBody>
                  <a:tcPr anchor="ctr"/>
                </a:tc>
                <a:tc>
                  <a:txBody>
                    <a:bodyPr/>
                    <a:lstStyle/>
                    <a:p>
                      <a:r>
                        <a:rPr lang="en-IN">
                          <a:latin typeface="Inter" panose="020B0604020202020204" charset="0"/>
                          <a:ea typeface="Inter" panose="020B0604020202020204" charset="0"/>
                        </a:rPr>
                        <a:t>12 units</a:t>
                      </a:r>
                    </a:p>
                  </a:txBody>
                  <a:tcPr anchor="ctr"/>
                </a:tc>
                <a:tc>
                  <a:txBody>
                    <a:bodyPr/>
                    <a:lstStyle/>
                    <a:p>
                      <a:r>
                        <a:rPr lang="en-IN" dirty="0">
                          <a:latin typeface="Inter" panose="020B0604020202020204" charset="0"/>
                          <a:ea typeface="Inter" panose="020B0604020202020204" charset="0"/>
                        </a:rPr>
                        <a:t>15 Mbps</a:t>
                      </a:r>
                    </a:p>
                  </a:txBody>
                  <a:tcPr anchor="ctr"/>
                </a:tc>
                <a:extLst>
                  <a:ext uri="{0D108BD9-81ED-4DB2-BD59-A6C34878D82A}">
                    <a16:rowId xmlns:a16="http://schemas.microsoft.com/office/drawing/2014/main" val="288142611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0070F47-ECC6-FC7B-1D66-89F15AEA5657}"/>
              </a:ext>
            </a:extLst>
          </p:cNvPr>
          <p:cNvSpPr txBox="1"/>
          <p:nvPr/>
        </p:nvSpPr>
        <p:spPr>
          <a:xfrm>
            <a:off x="546100" y="537250"/>
            <a:ext cx="13538200"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TRAFFIC CLASSIFICATION</a:t>
            </a:r>
          </a:p>
        </p:txBody>
      </p:sp>
      <p:sp>
        <p:nvSpPr>
          <p:cNvPr id="20" name="TextBox 19">
            <a:extLst>
              <a:ext uri="{FF2B5EF4-FFF2-40B4-BE49-F238E27FC236}">
                <a16:creationId xmlns:a16="http://schemas.microsoft.com/office/drawing/2014/main" id="{4FDDCE9C-276F-ADD6-0D5A-D7B9784C6007}"/>
              </a:ext>
            </a:extLst>
          </p:cNvPr>
          <p:cNvSpPr txBox="1"/>
          <p:nvPr/>
        </p:nvSpPr>
        <p:spPr>
          <a:xfrm>
            <a:off x="1244600" y="1321375"/>
            <a:ext cx="11074400" cy="4893647"/>
          </a:xfrm>
          <a:prstGeom prst="rect">
            <a:avLst/>
          </a:prstGeom>
          <a:noFill/>
        </p:spPr>
        <p:txBody>
          <a:bodyPr wrap="square" rtlCol="0">
            <a:spAutoFit/>
          </a:bodyPr>
          <a:lstStyle/>
          <a:p>
            <a:pPr>
              <a:lnSpc>
                <a:spcPct val="200000"/>
              </a:lnSpc>
            </a:pPr>
            <a:r>
              <a:rPr lang="en-IN" sz="2400" b="1" dirty="0">
                <a:latin typeface="Inter Bold" panose="020B0604020202020204" charset="0"/>
                <a:ea typeface="Inter Bold" panose="020B0604020202020204" charset="0"/>
              </a:rPr>
              <a:t>Protocol-Aware Traffic Classification</a:t>
            </a:r>
          </a:p>
          <a:p>
            <a:pPr>
              <a:lnSpc>
                <a:spcPct val="200000"/>
              </a:lnSpc>
              <a:buFont typeface="Arial" panose="020B0604020202020204" pitchFamily="34" charset="0"/>
              <a:buChar char="•"/>
            </a:pPr>
            <a:r>
              <a:rPr lang="en-IN" sz="2400" b="1" dirty="0">
                <a:latin typeface="Inter Bold" panose="020B0604020202020204" charset="0"/>
                <a:ea typeface="Inter Bold" panose="020B0604020202020204" charset="0"/>
              </a:rPr>
              <a:t>TCP Flows:</a:t>
            </a:r>
            <a:r>
              <a:rPr lang="en-IN" sz="2400" dirty="0">
                <a:latin typeface="Inter Bold" panose="020B0604020202020204" charset="0"/>
                <a:ea typeface="Inter Bold" panose="020B0604020202020204" charset="0"/>
              </a:rPr>
              <a:t> Latency-sensitive (web, streaming, interactive apps)</a:t>
            </a:r>
          </a:p>
          <a:p>
            <a:pPr>
              <a:lnSpc>
                <a:spcPct val="200000"/>
              </a:lnSpc>
              <a:buFont typeface="Arial" panose="020B0604020202020204" pitchFamily="34" charset="0"/>
              <a:buChar char="•"/>
            </a:pPr>
            <a:r>
              <a:rPr lang="en-IN" sz="2400" b="1" dirty="0">
                <a:latin typeface="Inter Bold" panose="020B0604020202020204" charset="0"/>
                <a:ea typeface="Inter Bold" panose="020B0604020202020204" charset="0"/>
              </a:rPr>
              <a:t>Non-TCP Flows:</a:t>
            </a:r>
            <a:r>
              <a:rPr lang="en-IN" sz="2400" dirty="0">
                <a:latin typeface="Inter Bold" panose="020B0604020202020204" charset="0"/>
                <a:ea typeface="Inter Bold" panose="020B0604020202020204" charset="0"/>
              </a:rPr>
              <a:t> Throughput-oriented (UDP, bulk transfer, video delivery)</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Policy:</a:t>
            </a:r>
          </a:p>
          <a:p>
            <a:pPr marL="742950" lvl="1" indent="-285750">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TCP → Low latency chain</a:t>
            </a:r>
          </a:p>
          <a:p>
            <a:pPr marL="742950" lvl="1" indent="-285750">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Non-TCP → High throughput chain</a:t>
            </a:r>
          </a:p>
          <a:p>
            <a:endParaRPr lang="en-IN" sz="2400" dirty="0">
              <a:latin typeface="Inter Bold" panose="020B0604020202020204" charset="0"/>
              <a:ea typeface="Inter Bold"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E55BB830-8129-5337-EC6A-5F234773A053}"/>
              </a:ext>
            </a:extLst>
          </p:cNvPr>
          <p:cNvSpPr txBox="1"/>
          <p:nvPr/>
        </p:nvSpPr>
        <p:spPr>
          <a:xfrm>
            <a:off x="431800" y="558225"/>
            <a:ext cx="12725400"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ALGORITHM OVERVIEW</a:t>
            </a:r>
          </a:p>
        </p:txBody>
      </p:sp>
      <p:graphicFrame>
        <p:nvGraphicFramePr>
          <p:cNvPr id="35" name="Table 34">
            <a:extLst>
              <a:ext uri="{FF2B5EF4-FFF2-40B4-BE49-F238E27FC236}">
                <a16:creationId xmlns:a16="http://schemas.microsoft.com/office/drawing/2014/main" id="{0A571E88-DA63-DD03-A384-F48E120E6863}"/>
              </a:ext>
            </a:extLst>
          </p:cNvPr>
          <p:cNvGraphicFramePr>
            <a:graphicFrameLocks noGrp="1"/>
          </p:cNvGraphicFramePr>
          <p:nvPr>
            <p:extLst>
              <p:ext uri="{D42A27DB-BD31-4B8C-83A1-F6EECF244321}">
                <p14:modId xmlns:p14="http://schemas.microsoft.com/office/powerpoint/2010/main" val="2884388491"/>
              </p:ext>
            </p:extLst>
          </p:nvPr>
        </p:nvGraphicFramePr>
        <p:xfrm>
          <a:off x="3987799" y="1803400"/>
          <a:ext cx="6654801" cy="5511800"/>
        </p:xfrm>
        <a:graphic>
          <a:graphicData uri="http://schemas.openxmlformats.org/drawingml/2006/table">
            <a:tbl>
              <a:tblPr firstRow="1" bandRow="1">
                <a:tableStyleId>{00A15C55-8517-42AA-B614-E9B94910E393}</a:tableStyleId>
              </a:tblPr>
              <a:tblGrid>
                <a:gridCol w="2218267">
                  <a:extLst>
                    <a:ext uri="{9D8B030D-6E8A-4147-A177-3AD203B41FA5}">
                      <a16:colId xmlns:a16="http://schemas.microsoft.com/office/drawing/2014/main" val="3938391507"/>
                    </a:ext>
                  </a:extLst>
                </a:gridCol>
                <a:gridCol w="2218267">
                  <a:extLst>
                    <a:ext uri="{9D8B030D-6E8A-4147-A177-3AD203B41FA5}">
                      <a16:colId xmlns:a16="http://schemas.microsoft.com/office/drawing/2014/main" val="774637389"/>
                    </a:ext>
                  </a:extLst>
                </a:gridCol>
                <a:gridCol w="2218267">
                  <a:extLst>
                    <a:ext uri="{9D8B030D-6E8A-4147-A177-3AD203B41FA5}">
                      <a16:colId xmlns:a16="http://schemas.microsoft.com/office/drawing/2014/main" val="2902396139"/>
                    </a:ext>
                  </a:extLst>
                </a:gridCol>
              </a:tblGrid>
              <a:tr h="1400810">
                <a:tc>
                  <a:txBody>
                    <a:bodyPr/>
                    <a:lstStyle/>
                    <a:p>
                      <a:r>
                        <a:rPr lang="en-IN" sz="2400" dirty="0">
                          <a:latin typeface="Inter Bold" panose="020B0604020202020204" charset="0"/>
                          <a:ea typeface="Inter Bold" panose="020B0604020202020204" charset="0"/>
                        </a:rPr>
                        <a:t>Approach</a:t>
                      </a:r>
                    </a:p>
                  </a:txBody>
                  <a:tcPr anchor="ctr"/>
                </a:tc>
                <a:tc>
                  <a:txBody>
                    <a:bodyPr/>
                    <a:lstStyle/>
                    <a:p>
                      <a:r>
                        <a:rPr lang="en-IN" sz="2400">
                          <a:latin typeface="Inter Bold" panose="020B0604020202020204" charset="0"/>
                          <a:ea typeface="Inter Bold" panose="020B0604020202020204" charset="0"/>
                        </a:rPr>
                        <a:t>Strength</a:t>
                      </a:r>
                    </a:p>
                  </a:txBody>
                  <a:tcPr anchor="ctr"/>
                </a:tc>
                <a:tc>
                  <a:txBody>
                    <a:bodyPr/>
                    <a:lstStyle/>
                    <a:p>
                      <a:r>
                        <a:rPr lang="en-IN" sz="2400">
                          <a:latin typeface="Inter Bold" panose="020B0604020202020204" charset="0"/>
                          <a:ea typeface="Inter Bold" panose="020B0604020202020204" charset="0"/>
                        </a:rPr>
                        <a:t>Weakness</a:t>
                      </a:r>
                    </a:p>
                  </a:txBody>
                  <a:tcPr anchor="ctr"/>
                </a:tc>
                <a:extLst>
                  <a:ext uri="{0D108BD9-81ED-4DB2-BD59-A6C34878D82A}">
                    <a16:rowId xmlns:a16="http://schemas.microsoft.com/office/drawing/2014/main" val="2765914855"/>
                  </a:ext>
                </a:extLst>
              </a:tr>
              <a:tr h="1370330">
                <a:tc>
                  <a:txBody>
                    <a:bodyPr/>
                    <a:lstStyle/>
                    <a:p>
                      <a:r>
                        <a:rPr lang="en-IN" sz="2400">
                          <a:latin typeface="Inter Bold" panose="020B0604020202020204" charset="0"/>
                          <a:ea typeface="Inter Bold" panose="020B0604020202020204" charset="0"/>
                        </a:rPr>
                        <a:t>Greedy</a:t>
                      </a:r>
                    </a:p>
                  </a:txBody>
                  <a:tcPr anchor="ctr"/>
                </a:tc>
                <a:tc>
                  <a:txBody>
                    <a:bodyPr/>
                    <a:lstStyle/>
                    <a:p>
                      <a:r>
                        <a:rPr lang="en-IN" sz="2400">
                          <a:latin typeface="Inter Bold" panose="020B0604020202020204" charset="0"/>
                          <a:ea typeface="Inter Bold" panose="020B0604020202020204" charset="0"/>
                        </a:rPr>
                        <a:t>Simple, scalable</a:t>
                      </a:r>
                    </a:p>
                  </a:txBody>
                  <a:tcPr anchor="ctr"/>
                </a:tc>
                <a:tc>
                  <a:txBody>
                    <a:bodyPr/>
                    <a:lstStyle/>
                    <a:p>
                      <a:r>
                        <a:rPr lang="en-IN" sz="2400">
                          <a:latin typeface="Inter Bold" panose="020B0604020202020204" charset="0"/>
                          <a:ea typeface="Inter Bold" panose="020B0604020202020204" charset="0"/>
                        </a:rPr>
                        <a:t>Causes fragmentation</a:t>
                      </a:r>
                    </a:p>
                  </a:txBody>
                  <a:tcPr anchor="ctr"/>
                </a:tc>
                <a:extLst>
                  <a:ext uri="{0D108BD9-81ED-4DB2-BD59-A6C34878D82A}">
                    <a16:rowId xmlns:a16="http://schemas.microsoft.com/office/drawing/2014/main" val="3291094858"/>
                  </a:ext>
                </a:extLst>
              </a:tr>
              <a:tr h="1370330">
                <a:tc>
                  <a:txBody>
                    <a:bodyPr/>
                    <a:lstStyle/>
                    <a:p>
                      <a:r>
                        <a:rPr lang="en-IN" sz="2400">
                          <a:latin typeface="Inter Bold" panose="020B0604020202020204" charset="0"/>
                          <a:ea typeface="Inter Bold" panose="020B0604020202020204" charset="0"/>
                        </a:rPr>
                        <a:t>DP</a:t>
                      </a:r>
                    </a:p>
                  </a:txBody>
                  <a:tcPr anchor="ctr"/>
                </a:tc>
                <a:tc>
                  <a:txBody>
                    <a:bodyPr/>
                    <a:lstStyle/>
                    <a:p>
                      <a:r>
                        <a:rPr lang="en-IN" sz="2400">
                          <a:latin typeface="Inter Bold" panose="020B0604020202020204" charset="0"/>
                          <a:ea typeface="Inter Bold" panose="020B0604020202020204" charset="0"/>
                        </a:rPr>
                        <a:t>Path-level optimal</a:t>
                      </a:r>
                    </a:p>
                  </a:txBody>
                  <a:tcPr anchor="ctr"/>
                </a:tc>
                <a:tc>
                  <a:txBody>
                    <a:bodyPr/>
                    <a:lstStyle/>
                    <a:p>
                      <a:r>
                        <a:rPr lang="en-IN" sz="2400">
                          <a:latin typeface="Inter Bold" panose="020B0604020202020204" charset="0"/>
                          <a:ea typeface="Inter Bold" panose="020B0604020202020204" charset="0"/>
                        </a:rPr>
                        <a:t>Higher computation</a:t>
                      </a:r>
                    </a:p>
                  </a:txBody>
                  <a:tcPr anchor="ctr"/>
                </a:tc>
                <a:extLst>
                  <a:ext uri="{0D108BD9-81ED-4DB2-BD59-A6C34878D82A}">
                    <a16:rowId xmlns:a16="http://schemas.microsoft.com/office/drawing/2014/main" val="658632487"/>
                  </a:ext>
                </a:extLst>
              </a:tr>
              <a:tr h="1370330">
                <a:tc>
                  <a:txBody>
                    <a:bodyPr/>
                    <a:lstStyle/>
                    <a:p>
                      <a:r>
                        <a:rPr lang="en-IN" sz="2400">
                          <a:latin typeface="Inter Bold" panose="020B0604020202020204" charset="0"/>
                          <a:ea typeface="Inter Bold" panose="020B0604020202020204" charset="0"/>
                        </a:rPr>
                        <a:t>MILP</a:t>
                      </a:r>
                    </a:p>
                  </a:txBody>
                  <a:tcPr anchor="ctr"/>
                </a:tc>
                <a:tc>
                  <a:txBody>
                    <a:bodyPr/>
                    <a:lstStyle/>
                    <a:p>
                      <a:r>
                        <a:rPr lang="en-IN" sz="2400" dirty="0">
                          <a:latin typeface="Inter Bold" panose="020B0604020202020204" charset="0"/>
                          <a:ea typeface="Inter Bold" panose="020B0604020202020204" charset="0"/>
                        </a:rPr>
                        <a:t>Global optimal</a:t>
                      </a:r>
                    </a:p>
                  </a:txBody>
                  <a:tcPr anchor="ctr"/>
                </a:tc>
                <a:tc>
                  <a:txBody>
                    <a:bodyPr/>
                    <a:lstStyle/>
                    <a:p>
                      <a:r>
                        <a:rPr lang="en-IN" sz="2400" dirty="0">
                          <a:latin typeface="Inter Bold" panose="020B0604020202020204" charset="0"/>
                          <a:ea typeface="Inter Bold" panose="020B0604020202020204" charset="0"/>
                        </a:rPr>
                        <a:t>Not scalable</a:t>
                      </a:r>
                    </a:p>
                  </a:txBody>
                  <a:tcPr anchor="ctr"/>
                </a:tc>
                <a:extLst>
                  <a:ext uri="{0D108BD9-81ED-4DB2-BD59-A6C34878D82A}">
                    <a16:rowId xmlns:a16="http://schemas.microsoft.com/office/drawing/2014/main" val="401223044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991B-F509-F4B4-533B-9D10B38D40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C7F69C-07BB-EE38-7661-8F9A6D9262A5}"/>
              </a:ext>
            </a:extLst>
          </p:cNvPr>
          <p:cNvSpPr txBox="1"/>
          <p:nvPr/>
        </p:nvSpPr>
        <p:spPr>
          <a:xfrm>
            <a:off x="635000" y="457200"/>
            <a:ext cx="13360400"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GREEDY ALGORITHM</a:t>
            </a:r>
          </a:p>
        </p:txBody>
      </p:sp>
      <p:sp>
        <p:nvSpPr>
          <p:cNvPr id="3" name="TextBox 2">
            <a:extLst>
              <a:ext uri="{FF2B5EF4-FFF2-40B4-BE49-F238E27FC236}">
                <a16:creationId xmlns:a16="http://schemas.microsoft.com/office/drawing/2014/main" id="{C179E63F-64E1-BBF6-3D55-9A38E8E2E4DE}"/>
              </a:ext>
            </a:extLst>
          </p:cNvPr>
          <p:cNvSpPr txBox="1"/>
          <p:nvPr/>
        </p:nvSpPr>
        <p:spPr>
          <a:xfrm>
            <a:off x="1346200" y="1473200"/>
            <a:ext cx="6146800" cy="4062651"/>
          </a:xfrm>
          <a:prstGeom prst="rect">
            <a:avLst/>
          </a:prstGeom>
          <a:noFill/>
        </p:spPr>
        <p:txBody>
          <a:bodyPr wrap="square" rtlCol="0">
            <a:spAutoFit/>
          </a:bodyPr>
          <a:lstStyle/>
          <a:p>
            <a:pPr>
              <a:lnSpc>
                <a:spcPct val="200000"/>
              </a:lnSpc>
            </a:pPr>
            <a:r>
              <a:rPr lang="en-GB" sz="2400" b="1" dirty="0">
                <a:latin typeface="Inter Bold" panose="020B0604020202020204" charset="0"/>
                <a:ea typeface="Inter Bold" panose="020B0604020202020204" charset="0"/>
              </a:rPr>
              <a:t>Greedy Placement</a:t>
            </a:r>
          </a:p>
          <a:p>
            <a:pPr marL="342900" indent="-342900">
              <a:lnSpc>
                <a:spcPct val="200000"/>
              </a:lnSpc>
              <a:buFont typeface="Arial" panose="020B0604020202020204" pitchFamily="34" charset="0"/>
              <a:buChar char="•"/>
            </a:pPr>
            <a:r>
              <a:rPr lang="en-GB" sz="2400" dirty="0">
                <a:latin typeface="Inter Bold" panose="020B0604020202020204" charset="0"/>
                <a:ea typeface="Inter Bold" panose="020B0604020202020204" charset="0"/>
              </a:rPr>
              <a:t>Select first feasible path</a:t>
            </a:r>
          </a:p>
          <a:p>
            <a:pPr marL="342900" indent="-342900">
              <a:lnSpc>
                <a:spcPct val="200000"/>
              </a:lnSpc>
              <a:buFont typeface="Arial" panose="020B0604020202020204" pitchFamily="34" charset="0"/>
              <a:buChar char="•"/>
            </a:pPr>
            <a:r>
              <a:rPr lang="en-GB" sz="2400" dirty="0">
                <a:latin typeface="Inter Bold" panose="020B0604020202020204" charset="0"/>
                <a:ea typeface="Inter Bold" panose="020B0604020202020204" charset="0"/>
              </a:rPr>
              <a:t>Assign VNFs to earliest nodes with sufficient CPU</a:t>
            </a:r>
          </a:p>
          <a:p>
            <a:pPr marL="342900" indent="-342900">
              <a:lnSpc>
                <a:spcPct val="200000"/>
              </a:lnSpc>
              <a:buFont typeface="Arial" panose="020B0604020202020204" pitchFamily="34" charset="0"/>
              <a:buChar char="•"/>
            </a:pPr>
            <a:r>
              <a:rPr lang="en-GB" sz="2400" dirty="0">
                <a:latin typeface="Inter Bold" panose="020B0604020202020204" charset="0"/>
                <a:ea typeface="Inter Bold" panose="020B0604020202020204" charset="0"/>
              </a:rPr>
              <a:t>Accept or reject flow immediately</a:t>
            </a:r>
          </a:p>
          <a:p>
            <a:endParaRPr lang="en-IN" dirty="0"/>
          </a:p>
        </p:txBody>
      </p:sp>
      <p:sp>
        <p:nvSpPr>
          <p:cNvPr id="4" name="TextBox 3">
            <a:extLst>
              <a:ext uri="{FF2B5EF4-FFF2-40B4-BE49-F238E27FC236}">
                <a16:creationId xmlns:a16="http://schemas.microsoft.com/office/drawing/2014/main" id="{4E096064-100A-E207-975D-60A688263400}"/>
              </a:ext>
            </a:extLst>
          </p:cNvPr>
          <p:cNvSpPr txBox="1"/>
          <p:nvPr/>
        </p:nvSpPr>
        <p:spPr>
          <a:xfrm>
            <a:off x="7670800" y="1473200"/>
            <a:ext cx="5613400" cy="4413259"/>
          </a:xfrm>
          <a:prstGeom prst="rect">
            <a:avLst/>
          </a:prstGeom>
          <a:noFill/>
        </p:spPr>
        <p:txBody>
          <a:bodyPr wrap="square" rtlCol="0">
            <a:spAutoFit/>
          </a:bodyPr>
          <a:lstStyle/>
          <a:p>
            <a:pPr>
              <a:lnSpc>
                <a:spcPct val="200000"/>
              </a:lnSpc>
            </a:pPr>
            <a:r>
              <a:rPr lang="en-IN" sz="2400" b="1" dirty="0">
                <a:latin typeface="Inter Bold" panose="020B0604020202020204" charset="0"/>
                <a:ea typeface="Inter Bold" panose="020B0604020202020204" charset="0"/>
              </a:rPr>
              <a:t>Pseudocode</a:t>
            </a:r>
            <a:endParaRPr lang="en-GB" sz="2400" b="1" dirty="0">
              <a:latin typeface="Inter Bold" panose="020B0604020202020204" charset="0"/>
              <a:ea typeface="Inter Bold" panose="020B0604020202020204" charset="0"/>
            </a:endParaRPr>
          </a:p>
          <a:p>
            <a:pPr>
              <a:lnSpc>
                <a:spcPct val="200000"/>
              </a:lnSpc>
            </a:pPr>
            <a:r>
              <a:rPr lang="en-GB" sz="2400" dirty="0">
                <a:latin typeface="Inter Bold" panose="020B0604020202020204" charset="0"/>
                <a:ea typeface="Inter Bold" panose="020B0604020202020204" charset="0"/>
              </a:rPr>
              <a:t>for each flow:</a:t>
            </a:r>
          </a:p>
          <a:p>
            <a:pPr>
              <a:lnSpc>
                <a:spcPct val="200000"/>
              </a:lnSpc>
            </a:pPr>
            <a:r>
              <a:rPr lang="en-GB" sz="2400" dirty="0">
                <a:latin typeface="Inter Bold" panose="020B0604020202020204" charset="0"/>
                <a:ea typeface="Inter Bold" panose="020B0604020202020204" charset="0"/>
              </a:rPr>
              <a:t>  for each path:</a:t>
            </a:r>
          </a:p>
          <a:p>
            <a:pPr>
              <a:lnSpc>
                <a:spcPct val="200000"/>
              </a:lnSpc>
            </a:pPr>
            <a:r>
              <a:rPr lang="en-GB" sz="2400" dirty="0">
                <a:latin typeface="Inter Bold" panose="020B0604020202020204" charset="0"/>
                <a:ea typeface="Inter Bold" panose="020B0604020202020204" charset="0"/>
              </a:rPr>
              <a:t>    try to place VNFs</a:t>
            </a:r>
          </a:p>
          <a:p>
            <a:pPr>
              <a:lnSpc>
                <a:spcPct val="200000"/>
              </a:lnSpc>
            </a:pPr>
            <a:r>
              <a:rPr lang="en-GB" sz="2400" dirty="0">
                <a:latin typeface="Inter Bold" panose="020B0604020202020204" charset="0"/>
                <a:ea typeface="Inter Bold" panose="020B0604020202020204" charset="0"/>
              </a:rPr>
              <a:t>    if successful: accept</a:t>
            </a:r>
          </a:p>
          <a:p>
            <a:pPr>
              <a:lnSpc>
                <a:spcPct val="200000"/>
              </a:lnSpc>
            </a:pPr>
            <a:r>
              <a:rPr lang="en-GB" sz="2400" dirty="0">
                <a:latin typeface="Inter Bold" panose="020B0604020202020204" charset="0"/>
                <a:ea typeface="Inter Bold" panose="020B0604020202020204" charset="0"/>
              </a:rPr>
              <a:t>  reject if no placement possible</a:t>
            </a:r>
            <a:endParaRPr lang="en-IN" sz="2400" dirty="0">
              <a:latin typeface="Inter Bold" panose="020B0604020202020204" charset="0"/>
              <a:ea typeface="Inter Bold" panose="020B0604020202020204" charset="0"/>
            </a:endParaRPr>
          </a:p>
        </p:txBody>
      </p:sp>
    </p:spTree>
    <p:extLst>
      <p:ext uri="{BB962C8B-B14F-4D97-AF65-F5344CB8AC3E}">
        <p14:creationId xmlns:p14="http://schemas.microsoft.com/office/powerpoint/2010/main" val="2180483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A4253-B916-4122-F466-2F2C1000F1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1E7FB2-AAFA-C7B3-6446-B8C51C7842BA}"/>
              </a:ext>
            </a:extLst>
          </p:cNvPr>
          <p:cNvSpPr txBox="1"/>
          <p:nvPr/>
        </p:nvSpPr>
        <p:spPr>
          <a:xfrm>
            <a:off x="812800" y="457200"/>
            <a:ext cx="11226800"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DYNAMIC PROGRAMMING EXAMPLE</a:t>
            </a:r>
          </a:p>
        </p:txBody>
      </p:sp>
      <p:sp>
        <p:nvSpPr>
          <p:cNvPr id="6" name="Rectangle 2">
            <a:extLst>
              <a:ext uri="{FF2B5EF4-FFF2-40B4-BE49-F238E27FC236}">
                <a16:creationId xmlns:a16="http://schemas.microsoft.com/office/drawing/2014/main" id="{B1885D28-D109-7B0A-B6C7-063852BD83F5}"/>
              </a:ext>
            </a:extLst>
          </p:cNvPr>
          <p:cNvSpPr>
            <a:spLocks noChangeArrowheads="1"/>
          </p:cNvSpPr>
          <p:nvPr/>
        </p:nvSpPr>
        <p:spPr bwMode="auto">
          <a:xfrm>
            <a:off x="1350512" y="1466284"/>
            <a:ext cx="9623147"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Dynamic Programming (DP) Placement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State:</a:t>
            </a:r>
            <a:b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b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DP[</a:t>
            </a:r>
            <a:r>
              <a:rPr kumimoji="0" lang="en-US" altLang="en-US" sz="2400" b="0" i="0" u="none" strike="noStrike" cap="none" normalizeH="0" baseline="0" dirty="0" err="1">
                <a:ln>
                  <a:noFill/>
                </a:ln>
                <a:solidFill>
                  <a:schemeClr val="tx1"/>
                </a:solidFill>
                <a:effectLst/>
                <a:latin typeface="Inter Bold" panose="020B0604020202020204" charset="0"/>
                <a:ea typeface="Inter Bold" panose="020B0604020202020204" charset="0"/>
              </a:rPr>
              <a:t>i</a:t>
            </a: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][j] = min cost to place VNF </a:t>
            </a:r>
            <a:r>
              <a:rPr kumimoji="0" lang="en-US" altLang="en-US" sz="2400" b="0" i="0" u="none" strike="noStrike" cap="none" normalizeH="0" baseline="0" dirty="0" err="1">
                <a:ln>
                  <a:noFill/>
                </a:ln>
                <a:solidFill>
                  <a:schemeClr val="tx1"/>
                </a:solidFill>
                <a:effectLst/>
                <a:latin typeface="Inter Bold" panose="020B0604020202020204" charset="0"/>
                <a:ea typeface="Inter Bold" panose="020B0604020202020204" charset="0"/>
              </a:rPr>
              <a:t>i</a:t>
            </a: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 on node j</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Recurrence:</a:t>
            </a:r>
            <a:b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b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DP[</a:t>
            </a:r>
            <a:r>
              <a:rPr kumimoji="0" lang="en-US" altLang="en-US" sz="2400" b="0" i="0" u="none" strike="noStrike" cap="none" normalizeH="0" baseline="0" dirty="0" err="1">
                <a:ln>
                  <a:noFill/>
                </a:ln>
                <a:solidFill>
                  <a:schemeClr val="tx1"/>
                </a:solidFill>
                <a:effectLst/>
                <a:latin typeface="Inter Bold" panose="020B0604020202020204" charset="0"/>
                <a:ea typeface="Inter Bold" panose="020B0604020202020204" charset="0"/>
              </a:rPr>
              <a:t>i</a:t>
            </a: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][j] = min over t&lt;j (DP[i-1][t] + latency(</a:t>
            </a:r>
            <a:r>
              <a:rPr kumimoji="0" lang="en-US" altLang="en-US" sz="2400" b="0" i="0" u="none" strike="noStrike" cap="none" normalizeH="0" baseline="0" dirty="0" err="1">
                <a:ln>
                  <a:noFill/>
                </a:ln>
                <a:solidFill>
                  <a:schemeClr val="tx1"/>
                </a:solidFill>
                <a:effectLst/>
                <a:latin typeface="Inter Bold" panose="020B0604020202020204" charset="0"/>
                <a:ea typeface="Inter Bold" panose="020B0604020202020204" charset="0"/>
              </a:rPr>
              <a:t>t→j</a:t>
            </a: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 + VNF-CPU</a:t>
            </a:r>
            <a:r>
              <a:rPr lang="en-US" altLang="en-US" sz="2400" dirty="0">
                <a:latin typeface="Inter Bold" panose="020B0604020202020204" charset="0"/>
                <a:ea typeface="Inter Bold" panose="020B0604020202020204" charset="0"/>
              </a:rPr>
              <a:t>-</a:t>
            </a: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cost)</a:t>
            </a:r>
            <a:endPar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Example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Path: A → B → 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VNF1 → B (cost = 8)</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VNF2 → C (cost = 10)</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3566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324D6-4C77-994E-F7B3-76F4A3AF9F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4B5EB6-72CC-2194-9CFA-FDE6DEDC05E7}"/>
              </a:ext>
            </a:extLst>
          </p:cNvPr>
          <p:cNvSpPr txBox="1"/>
          <p:nvPr/>
        </p:nvSpPr>
        <p:spPr>
          <a:xfrm>
            <a:off x="863600" y="660400"/>
            <a:ext cx="12293600"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MILP PLACEMENT</a:t>
            </a:r>
          </a:p>
        </p:txBody>
      </p:sp>
      <p:sp>
        <p:nvSpPr>
          <p:cNvPr id="5" name="Rectangle 2">
            <a:extLst>
              <a:ext uri="{FF2B5EF4-FFF2-40B4-BE49-F238E27FC236}">
                <a16:creationId xmlns:a16="http://schemas.microsoft.com/office/drawing/2014/main" id="{A2B418CD-2185-898A-EC8B-8168B7FA2F76}"/>
              </a:ext>
            </a:extLst>
          </p:cNvPr>
          <p:cNvSpPr>
            <a:spLocks noChangeArrowheads="1"/>
          </p:cNvSpPr>
          <p:nvPr/>
        </p:nvSpPr>
        <p:spPr bwMode="auto">
          <a:xfrm>
            <a:off x="1504336" y="1277184"/>
            <a:ext cx="6666270" cy="7229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MILP Formulation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Objective:</a:t>
            </a:r>
            <a:b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b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Minimize latency (TCP flows) + maximize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 bandwidth (Non-TCP flows)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Decision Variables: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Z-fin: VNF mapping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Y-f: flow acceptance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W-</a:t>
            </a:r>
            <a:r>
              <a:rPr kumimoji="0" lang="en-US" altLang="en-US" sz="2400" b="0" i="0" u="none" strike="noStrike" cap="none" normalizeH="0" baseline="0" dirty="0" err="1">
                <a:ln>
                  <a:noFill/>
                </a:ln>
                <a:solidFill>
                  <a:schemeClr val="tx1"/>
                </a:solidFill>
                <a:effectLst/>
                <a:latin typeface="Inter Bold" panose="020B0604020202020204" charset="0"/>
                <a:ea typeface="Inter Bold" panose="020B0604020202020204" charset="0"/>
              </a:rPr>
              <a:t>fp</a:t>
            </a: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 path selection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Constraints: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Node CPU limits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Link bandwidth limits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VNF ordering</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endParaRPr>
          </a:p>
        </p:txBody>
      </p:sp>
      <p:pic>
        <p:nvPicPr>
          <p:cNvPr id="6" name="Picture 5">
            <a:extLst>
              <a:ext uri="{FF2B5EF4-FFF2-40B4-BE49-F238E27FC236}">
                <a16:creationId xmlns:a16="http://schemas.microsoft.com/office/drawing/2014/main" id="{153A49F5-3BD6-4A06-D049-2F9C173B11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70606" y="1460787"/>
            <a:ext cx="6003704" cy="4482813"/>
          </a:xfrm>
          <a:prstGeom prst="rect">
            <a:avLst/>
          </a:prstGeom>
          <a:ln>
            <a:solidFill>
              <a:schemeClr val="tx1"/>
            </a:solidFill>
          </a:ln>
        </p:spPr>
      </p:pic>
    </p:spTree>
    <p:extLst>
      <p:ext uri="{BB962C8B-B14F-4D97-AF65-F5344CB8AC3E}">
        <p14:creationId xmlns:p14="http://schemas.microsoft.com/office/powerpoint/2010/main" val="1557776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BE4B3-3553-3C12-70C6-06B85CE77D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B07A1A-6147-B486-4AD0-D2D6B45C0A2E}"/>
              </a:ext>
            </a:extLst>
          </p:cNvPr>
          <p:cNvSpPr txBox="1"/>
          <p:nvPr/>
        </p:nvSpPr>
        <p:spPr>
          <a:xfrm>
            <a:off x="1238865" y="1686952"/>
            <a:ext cx="6931741" cy="3674596"/>
          </a:xfrm>
          <a:prstGeom prst="rect">
            <a:avLst/>
          </a:prstGeom>
          <a:noFill/>
        </p:spPr>
        <p:txBody>
          <a:bodyPr wrap="square" rtlCol="0">
            <a:spAutoFit/>
          </a:bodyPr>
          <a:lstStyle/>
          <a:p>
            <a:pPr>
              <a:lnSpc>
                <a:spcPct val="200000"/>
              </a:lnSpc>
              <a:buFont typeface="+mj-lt"/>
              <a:buAutoNum type="arabicPeriod"/>
            </a:pPr>
            <a:r>
              <a:rPr lang="en-IN" sz="2400" dirty="0">
                <a:latin typeface="Inter Bold" panose="020B0604020202020204" charset="0"/>
                <a:ea typeface="Inter Bold" panose="020B0604020202020204" charset="0"/>
              </a:rPr>
              <a:t>Traffic Classifier</a:t>
            </a:r>
          </a:p>
          <a:p>
            <a:pPr>
              <a:lnSpc>
                <a:spcPct val="200000"/>
              </a:lnSpc>
              <a:buFont typeface="+mj-lt"/>
              <a:buAutoNum type="arabicPeriod"/>
            </a:pPr>
            <a:r>
              <a:rPr lang="en-IN" sz="2400" dirty="0">
                <a:latin typeface="Inter Bold" panose="020B0604020202020204" charset="0"/>
                <a:ea typeface="Inter Bold" panose="020B0604020202020204" charset="0"/>
              </a:rPr>
              <a:t>SFC Orchestrator</a:t>
            </a:r>
          </a:p>
          <a:p>
            <a:pPr>
              <a:lnSpc>
                <a:spcPct val="200000"/>
              </a:lnSpc>
              <a:buFont typeface="+mj-lt"/>
              <a:buAutoNum type="arabicPeriod"/>
            </a:pPr>
            <a:r>
              <a:rPr lang="en-IN" sz="2400" dirty="0">
                <a:latin typeface="Inter Bold" panose="020B0604020202020204" charset="0"/>
                <a:ea typeface="Inter Bold" panose="020B0604020202020204" charset="0"/>
              </a:rPr>
              <a:t>Placement Engine (Greedy / DP / MILP)</a:t>
            </a:r>
          </a:p>
          <a:p>
            <a:pPr>
              <a:lnSpc>
                <a:spcPct val="200000"/>
              </a:lnSpc>
              <a:buFont typeface="+mj-lt"/>
              <a:buAutoNum type="arabicPeriod"/>
            </a:pPr>
            <a:r>
              <a:rPr lang="en-IN" sz="2400" dirty="0">
                <a:latin typeface="Inter Bold" panose="020B0604020202020204" charset="0"/>
                <a:ea typeface="Inter Bold" panose="020B0604020202020204" charset="0"/>
              </a:rPr>
              <a:t>NFV Infrastructure (</a:t>
            </a:r>
            <a:r>
              <a:rPr lang="en-IN" sz="2400" dirty="0" err="1">
                <a:latin typeface="Inter Bold" panose="020B0604020202020204" charset="0"/>
                <a:ea typeface="Inter Bold" panose="020B0604020202020204" charset="0"/>
              </a:rPr>
              <a:t>NSFNet</a:t>
            </a:r>
            <a:r>
              <a:rPr lang="en-IN" sz="2400" dirty="0">
                <a:latin typeface="Inter Bold" panose="020B0604020202020204" charset="0"/>
                <a:ea typeface="Inter Bold" panose="020B0604020202020204" charset="0"/>
              </a:rPr>
              <a:t> 42 nodes)</a:t>
            </a:r>
          </a:p>
          <a:p>
            <a:pPr>
              <a:lnSpc>
                <a:spcPct val="200000"/>
              </a:lnSpc>
            </a:pPr>
            <a:endParaRPr lang="en-IN" sz="2400" dirty="0">
              <a:latin typeface="Inter Bold" panose="020B0604020202020204" charset="0"/>
              <a:ea typeface="Inter Bold" panose="020B0604020202020204" charset="0"/>
            </a:endParaRPr>
          </a:p>
        </p:txBody>
      </p:sp>
      <p:sp>
        <p:nvSpPr>
          <p:cNvPr id="3" name="TextBox 2">
            <a:extLst>
              <a:ext uri="{FF2B5EF4-FFF2-40B4-BE49-F238E27FC236}">
                <a16:creationId xmlns:a16="http://schemas.microsoft.com/office/drawing/2014/main" id="{4A1EBE75-7803-664A-968D-C5DF92F846FF}"/>
              </a:ext>
            </a:extLst>
          </p:cNvPr>
          <p:cNvSpPr txBox="1"/>
          <p:nvPr/>
        </p:nvSpPr>
        <p:spPr>
          <a:xfrm>
            <a:off x="884903" y="536101"/>
            <a:ext cx="11946194"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SYSTEM ARCHITECTURE</a:t>
            </a:r>
          </a:p>
        </p:txBody>
      </p:sp>
      <p:pic>
        <p:nvPicPr>
          <p:cNvPr id="4" name="Picture 3">
            <a:extLst>
              <a:ext uri="{FF2B5EF4-FFF2-40B4-BE49-F238E27FC236}">
                <a16:creationId xmlns:a16="http://schemas.microsoft.com/office/drawing/2014/main" id="{24988DEC-D3DC-F03C-9467-2086A403E1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2858" y="1695450"/>
            <a:ext cx="5395048" cy="4838700"/>
          </a:xfrm>
          <a:prstGeom prst="rect">
            <a:avLst/>
          </a:prstGeom>
          <a:ln>
            <a:solidFill>
              <a:schemeClr val="tx1"/>
            </a:solidFill>
          </a:ln>
        </p:spPr>
      </p:pic>
    </p:spTree>
    <p:extLst>
      <p:ext uri="{BB962C8B-B14F-4D97-AF65-F5344CB8AC3E}">
        <p14:creationId xmlns:p14="http://schemas.microsoft.com/office/powerpoint/2010/main" val="3611821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F5770-CF0F-4371-494C-E09734076C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7E8AB2-DC0F-1D17-26C4-0ABA6B0061D2}"/>
              </a:ext>
            </a:extLst>
          </p:cNvPr>
          <p:cNvSpPr txBox="1"/>
          <p:nvPr/>
        </p:nvSpPr>
        <p:spPr>
          <a:xfrm>
            <a:off x="914400" y="560439"/>
            <a:ext cx="13037574"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EXPERIMENTAL SETUP</a:t>
            </a:r>
          </a:p>
        </p:txBody>
      </p:sp>
      <p:sp>
        <p:nvSpPr>
          <p:cNvPr id="8" name="TextBox 7">
            <a:extLst>
              <a:ext uri="{FF2B5EF4-FFF2-40B4-BE49-F238E27FC236}">
                <a16:creationId xmlns:a16="http://schemas.microsoft.com/office/drawing/2014/main" id="{C296235B-F29F-862F-431B-806460BC2E88}"/>
              </a:ext>
            </a:extLst>
          </p:cNvPr>
          <p:cNvSpPr txBox="1"/>
          <p:nvPr/>
        </p:nvSpPr>
        <p:spPr>
          <a:xfrm>
            <a:off x="1356851" y="1440181"/>
            <a:ext cx="12152671" cy="4413259"/>
          </a:xfrm>
          <a:prstGeom prst="rect">
            <a:avLst/>
          </a:prstGeom>
          <a:noFill/>
        </p:spPr>
        <p:txBody>
          <a:bodyPr wrap="square" rtlCol="0">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Topology: </a:t>
            </a:r>
            <a:r>
              <a:rPr kumimoji="0" lang="en-US" altLang="en-US" sz="2400" b="1" i="0" u="none" strike="noStrike" cap="none" normalizeH="0" baseline="0" dirty="0">
                <a:ln>
                  <a:noFill/>
                </a:ln>
                <a:solidFill>
                  <a:schemeClr val="tx1"/>
                </a:solidFill>
                <a:effectLst/>
                <a:latin typeface="Inter Bold" panose="020B0604020202020204" charset="0"/>
                <a:ea typeface="Inter Bold" panose="020B0604020202020204" charset="0"/>
              </a:rPr>
              <a:t>42-node </a:t>
            </a:r>
            <a:r>
              <a:rPr kumimoji="0" lang="en-US" altLang="en-US" sz="2400" b="1" i="0" u="none" strike="noStrike" cap="none" normalizeH="0" baseline="0" dirty="0" err="1">
                <a:ln>
                  <a:noFill/>
                </a:ln>
                <a:solidFill>
                  <a:schemeClr val="tx1"/>
                </a:solidFill>
                <a:effectLst/>
                <a:latin typeface="Inter Bold" panose="020B0604020202020204" charset="0"/>
                <a:ea typeface="Inter Bold" panose="020B0604020202020204" charset="0"/>
              </a:rPr>
              <a:t>NSFNet</a:t>
            </a:r>
            <a:endPar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CPU per node: 60–120 units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Bandwidth per link: 200–1000 Mbps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Latency: 1–20 </a:t>
            </a:r>
            <a:r>
              <a:rPr kumimoji="0" lang="en-US" altLang="en-US" sz="2400" b="0" i="0" u="none" strike="noStrike" cap="none" normalizeH="0" baseline="0" dirty="0" err="1">
                <a:ln>
                  <a:noFill/>
                </a:ln>
                <a:solidFill>
                  <a:schemeClr val="tx1"/>
                </a:solidFill>
                <a:effectLst/>
                <a:latin typeface="Inter Bold" panose="020B0604020202020204" charset="0"/>
                <a:ea typeface="Inter Bold" panose="020B0604020202020204" charset="0"/>
              </a:rPr>
              <a:t>ms</a:t>
            </a:r>
            <a:endPar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SFC length: 3–8 VNFs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Algorithms tested: Greedy, DP, MILP</a:t>
            </a:r>
          </a:p>
        </p:txBody>
      </p:sp>
      <p:pic>
        <p:nvPicPr>
          <p:cNvPr id="9" name="Picture 8">
            <a:extLst>
              <a:ext uri="{FF2B5EF4-FFF2-40B4-BE49-F238E27FC236}">
                <a16:creationId xmlns:a16="http://schemas.microsoft.com/office/drawing/2014/main" id="{78E80061-7154-857F-C20A-5EB0D5F2F6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8270" y="1170614"/>
            <a:ext cx="6003704" cy="4482813"/>
          </a:xfrm>
          <a:prstGeom prst="rect">
            <a:avLst/>
          </a:prstGeom>
          <a:ln>
            <a:solidFill>
              <a:schemeClr val="tx1"/>
            </a:solidFill>
          </a:ln>
        </p:spPr>
      </p:pic>
    </p:spTree>
    <p:extLst>
      <p:ext uri="{BB962C8B-B14F-4D97-AF65-F5344CB8AC3E}">
        <p14:creationId xmlns:p14="http://schemas.microsoft.com/office/powerpoint/2010/main" val="3115097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023FB-B5BC-9E62-DBAB-0E612E3D7B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B442EA-823E-ADE3-B568-7A7B953252C4}"/>
              </a:ext>
            </a:extLst>
          </p:cNvPr>
          <p:cNvSpPr txBox="1"/>
          <p:nvPr/>
        </p:nvSpPr>
        <p:spPr>
          <a:xfrm>
            <a:off x="796413" y="587355"/>
            <a:ext cx="13126064"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ACCEPTANCE RATIO</a:t>
            </a:r>
          </a:p>
        </p:txBody>
      </p:sp>
      <p:sp>
        <p:nvSpPr>
          <p:cNvPr id="3" name="TextBox 2">
            <a:extLst>
              <a:ext uri="{FF2B5EF4-FFF2-40B4-BE49-F238E27FC236}">
                <a16:creationId xmlns:a16="http://schemas.microsoft.com/office/drawing/2014/main" id="{B59CD1BB-1729-E029-EB08-D755C531CBBC}"/>
              </a:ext>
            </a:extLst>
          </p:cNvPr>
          <p:cNvSpPr txBox="1"/>
          <p:nvPr/>
        </p:nvSpPr>
        <p:spPr>
          <a:xfrm>
            <a:off x="1504336" y="1563329"/>
            <a:ext cx="6754761" cy="6629251"/>
          </a:xfrm>
          <a:prstGeom prst="rect">
            <a:avLst/>
          </a:prstGeom>
          <a:noFill/>
        </p:spPr>
        <p:txBody>
          <a:bodyPr wrap="square" rtlCol="0">
            <a:spAutoFit/>
          </a:bodyPr>
          <a:lstStyle/>
          <a:p>
            <a:pPr>
              <a:lnSpc>
                <a:spcPct val="200000"/>
              </a:lnSpc>
            </a:pPr>
            <a:r>
              <a:rPr lang="en-GB" sz="2400" b="1" dirty="0">
                <a:latin typeface="Inter Bold" panose="020B0604020202020204" charset="0"/>
                <a:ea typeface="Inter Bold" panose="020B0604020202020204" charset="0"/>
              </a:rPr>
              <a:t>Flow Acceptance Ratio</a:t>
            </a:r>
          </a:p>
          <a:p>
            <a:pPr>
              <a:lnSpc>
                <a:spcPct val="200000"/>
              </a:lnSpc>
              <a:buFont typeface="Arial" panose="020B0604020202020204" pitchFamily="34" charset="0"/>
              <a:buChar char="•"/>
            </a:pPr>
            <a:r>
              <a:rPr lang="en-GB" sz="2400" b="1" dirty="0">
                <a:latin typeface="Inter Bold" panose="020B0604020202020204" charset="0"/>
                <a:ea typeface="Inter Bold" panose="020B0604020202020204" charset="0"/>
              </a:rPr>
              <a:t>MILP:</a:t>
            </a:r>
            <a:r>
              <a:rPr lang="en-GB" sz="2400" dirty="0">
                <a:latin typeface="Inter Bold" panose="020B0604020202020204" charset="0"/>
                <a:ea typeface="Inter Bold" panose="020B0604020202020204" charset="0"/>
              </a:rPr>
              <a:t> 66.7%</a:t>
            </a:r>
          </a:p>
          <a:p>
            <a:pPr>
              <a:lnSpc>
                <a:spcPct val="200000"/>
              </a:lnSpc>
              <a:buFont typeface="Arial" panose="020B0604020202020204" pitchFamily="34" charset="0"/>
              <a:buChar char="•"/>
            </a:pPr>
            <a:r>
              <a:rPr lang="en-GB" sz="2400" b="1" dirty="0">
                <a:latin typeface="Inter Bold" panose="020B0604020202020204" charset="0"/>
                <a:ea typeface="Inter Bold" panose="020B0604020202020204" charset="0"/>
              </a:rPr>
              <a:t>DP:</a:t>
            </a:r>
            <a:r>
              <a:rPr lang="en-GB" sz="2400" dirty="0">
                <a:latin typeface="Inter Bold" panose="020B0604020202020204" charset="0"/>
                <a:ea typeface="Inter Bold" panose="020B0604020202020204" charset="0"/>
              </a:rPr>
              <a:t> 25%</a:t>
            </a:r>
          </a:p>
          <a:p>
            <a:pPr>
              <a:lnSpc>
                <a:spcPct val="200000"/>
              </a:lnSpc>
              <a:buFont typeface="Arial" panose="020B0604020202020204" pitchFamily="34" charset="0"/>
              <a:buChar char="•"/>
            </a:pPr>
            <a:r>
              <a:rPr lang="en-GB" sz="2400" b="1" dirty="0">
                <a:latin typeface="Inter Bold" panose="020B0604020202020204" charset="0"/>
                <a:ea typeface="Inter Bold" panose="020B0604020202020204" charset="0"/>
              </a:rPr>
              <a:t>Greedy:</a:t>
            </a:r>
            <a:r>
              <a:rPr lang="en-GB" sz="2400" dirty="0">
                <a:latin typeface="Inter Bold" panose="020B0604020202020204" charset="0"/>
                <a:ea typeface="Inter Bold" panose="020B0604020202020204" charset="0"/>
              </a:rPr>
              <a:t> 25%</a:t>
            </a:r>
          </a:p>
          <a:p>
            <a:pPr>
              <a:lnSpc>
                <a:spcPct val="200000"/>
              </a:lnSpc>
            </a:pPr>
            <a:r>
              <a:rPr lang="en-GB" sz="2400" b="1" dirty="0">
                <a:latin typeface="Inter Bold" panose="020B0604020202020204" charset="0"/>
                <a:ea typeface="Inter Bold" panose="020B0604020202020204" charset="0"/>
              </a:rPr>
              <a:t>Why MILP Wins</a:t>
            </a:r>
          </a:p>
          <a:p>
            <a:pPr>
              <a:lnSpc>
                <a:spcPct val="200000"/>
              </a:lnSpc>
              <a:buFont typeface="Arial" panose="020B0604020202020204" pitchFamily="34" charset="0"/>
              <a:buChar char="•"/>
            </a:pPr>
            <a:r>
              <a:rPr lang="en-GB" sz="2400" dirty="0">
                <a:latin typeface="Inter Bold" panose="020B0604020202020204" charset="0"/>
                <a:ea typeface="Inter Bold" panose="020B0604020202020204" charset="0"/>
              </a:rPr>
              <a:t>Better global balancing</a:t>
            </a:r>
          </a:p>
          <a:p>
            <a:pPr>
              <a:lnSpc>
                <a:spcPct val="200000"/>
              </a:lnSpc>
              <a:buFont typeface="Arial" panose="020B0604020202020204" pitchFamily="34" charset="0"/>
              <a:buChar char="•"/>
            </a:pPr>
            <a:r>
              <a:rPr lang="en-GB" sz="2400" dirty="0">
                <a:latin typeface="Inter Bold" panose="020B0604020202020204" charset="0"/>
                <a:ea typeface="Inter Bold" panose="020B0604020202020204" charset="0"/>
              </a:rPr>
              <a:t>Avoids fragmentation</a:t>
            </a:r>
          </a:p>
          <a:p>
            <a:pPr>
              <a:lnSpc>
                <a:spcPct val="200000"/>
              </a:lnSpc>
              <a:buFont typeface="Arial" panose="020B0604020202020204" pitchFamily="34" charset="0"/>
              <a:buChar char="•"/>
            </a:pPr>
            <a:r>
              <a:rPr lang="en-GB" sz="2400" dirty="0">
                <a:latin typeface="Inter Bold" panose="020B0604020202020204" charset="0"/>
                <a:ea typeface="Inter Bold" panose="020B0604020202020204" charset="0"/>
              </a:rPr>
              <a:t>Evaluates full search space</a:t>
            </a:r>
          </a:p>
          <a:p>
            <a:pPr>
              <a:lnSpc>
                <a:spcPct val="200000"/>
              </a:lnSpc>
            </a:pPr>
            <a:endParaRPr lang="en-IN" sz="2400" dirty="0">
              <a:latin typeface="Inter Bold" panose="020B0604020202020204" charset="0"/>
              <a:ea typeface="Inter Bold" panose="020B0604020202020204" charset="0"/>
            </a:endParaRPr>
          </a:p>
        </p:txBody>
      </p:sp>
      <p:pic>
        <p:nvPicPr>
          <p:cNvPr id="4" name="Picture 3">
            <a:extLst>
              <a:ext uri="{FF2B5EF4-FFF2-40B4-BE49-F238E27FC236}">
                <a16:creationId xmlns:a16="http://schemas.microsoft.com/office/drawing/2014/main" id="{70B382AB-8DCB-003B-C50D-466293D31050}"/>
              </a:ext>
            </a:extLst>
          </p:cNvPr>
          <p:cNvPicPr>
            <a:picLocks noChangeAspect="1"/>
          </p:cNvPicPr>
          <p:nvPr/>
        </p:nvPicPr>
        <p:blipFill>
          <a:blip r:embed="rId3"/>
          <a:stretch>
            <a:fillRect/>
          </a:stretch>
        </p:blipFill>
        <p:spPr>
          <a:xfrm>
            <a:off x="6740524" y="739755"/>
            <a:ext cx="6928343" cy="6629251"/>
          </a:xfrm>
          <a:prstGeom prst="rect">
            <a:avLst/>
          </a:prstGeom>
        </p:spPr>
      </p:pic>
    </p:spTree>
    <p:extLst>
      <p:ext uri="{BB962C8B-B14F-4D97-AF65-F5344CB8AC3E}">
        <p14:creationId xmlns:p14="http://schemas.microsoft.com/office/powerpoint/2010/main" val="2239418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77F06-0B74-DD50-18BB-A48F6C1939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48C18A-FC9A-DE7D-54EB-5E1098617F58}"/>
              </a:ext>
            </a:extLst>
          </p:cNvPr>
          <p:cNvSpPr txBox="1"/>
          <p:nvPr/>
        </p:nvSpPr>
        <p:spPr>
          <a:xfrm>
            <a:off x="766916" y="825910"/>
            <a:ext cx="12270658"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LATENCY &amp; CPU UTILIZATION</a:t>
            </a:r>
          </a:p>
        </p:txBody>
      </p:sp>
      <p:sp>
        <p:nvSpPr>
          <p:cNvPr id="4" name="TextBox 3">
            <a:extLst>
              <a:ext uri="{FF2B5EF4-FFF2-40B4-BE49-F238E27FC236}">
                <a16:creationId xmlns:a16="http://schemas.microsoft.com/office/drawing/2014/main" id="{A5045917-614A-1F16-896C-264EBAC586EC}"/>
              </a:ext>
            </a:extLst>
          </p:cNvPr>
          <p:cNvSpPr txBox="1"/>
          <p:nvPr/>
        </p:nvSpPr>
        <p:spPr>
          <a:xfrm>
            <a:off x="1563329" y="1887794"/>
            <a:ext cx="5987845" cy="5151923"/>
          </a:xfrm>
          <a:prstGeom prst="rect">
            <a:avLst/>
          </a:prstGeom>
          <a:noFill/>
        </p:spPr>
        <p:txBody>
          <a:bodyPr wrap="square" rtlCol="0">
            <a:spAutoFit/>
          </a:bodyPr>
          <a:lstStyle/>
          <a:p>
            <a:pPr>
              <a:lnSpc>
                <a:spcPct val="200000"/>
              </a:lnSpc>
            </a:pPr>
            <a:r>
              <a:rPr lang="en-IN" sz="2400" b="1" dirty="0">
                <a:latin typeface="Inter Bold" panose="020B0604020202020204" charset="0"/>
                <a:ea typeface="Inter Bold" panose="020B0604020202020204" charset="0"/>
              </a:rPr>
              <a:t>Mean Latency</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MILP: 35.2 </a:t>
            </a:r>
            <a:r>
              <a:rPr lang="en-IN" sz="2400" dirty="0" err="1">
                <a:latin typeface="Inter Bold" panose="020B0604020202020204" charset="0"/>
                <a:ea typeface="Inter Bold" panose="020B0604020202020204" charset="0"/>
              </a:rPr>
              <a:t>ms</a:t>
            </a:r>
            <a:endParaRPr lang="en-IN" sz="2400" dirty="0">
              <a:latin typeface="Inter Bold" panose="020B0604020202020204" charset="0"/>
              <a:ea typeface="Inter Bold" panose="020B0604020202020204" charset="0"/>
            </a:endParaRP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DP/Greedy: ~38 </a:t>
            </a:r>
            <a:r>
              <a:rPr lang="en-IN" sz="2400" dirty="0" err="1">
                <a:latin typeface="Inter Bold" panose="020B0604020202020204" charset="0"/>
                <a:ea typeface="Inter Bold" panose="020B0604020202020204" charset="0"/>
              </a:rPr>
              <a:t>ms</a:t>
            </a:r>
            <a:endParaRPr lang="en-IN" sz="2400" dirty="0">
              <a:latin typeface="Inter Bold" panose="020B0604020202020204" charset="0"/>
              <a:ea typeface="Inter Bold" panose="020B0604020202020204" charset="0"/>
            </a:endParaRPr>
          </a:p>
          <a:p>
            <a:pPr>
              <a:lnSpc>
                <a:spcPct val="200000"/>
              </a:lnSpc>
            </a:pPr>
            <a:r>
              <a:rPr lang="en-IN" sz="2400" b="1" dirty="0">
                <a:latin typeface="Inter Bold" panose="020B0604020202020204" charset="0"/>
                <a:ea typeface="Inter Bold" panose="020B0604020202020204" charset="0"/>
              </a:rPr>
              <a:t>CPU Utilization</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MILP: 10.5%</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DP/Greedy: 4.2%</a:t>
            </a:r>
          </a:p>
          <a:p>
            <a:pPr>
              <a:lnSpc>
                <a:spcPct val="200000"/>
              </a:lnSpc>
            </a:pPr>
            <a:endParaRPr lang="en-IN" sz="2400" dirty="0">
              <a:latin typeface="Inter Bold" panose="020B0604020202020204" charset="0"/>
              <a:ea typeface="Inter Bold" panose="020B0604020202020204" charset="0"/>
            </a:endParaRPr>
          </a:p>
        </p:txBody>
      </p:sp>
      <p:pic>
        <p:nvPicPr>
          <p:cNvPr id="5" name="Picture 4">
            <a:extLst>
              <a:ext uri="{FF2B5EF4-FFF2-40B4-BE49-F238E27FC236}">
                <a16:creationId xmlns:a16="http://schemas.microsoft.com/office/drawing/2014/main" id="{A44B746E-79F1-62A7-928F-6E4FD46AF5A6}"/>
              </a:ext>
            </a:extLst>
          </p:cNvPr>
          <p:cNvPicPr>
            <a:picLocks noChangeAspect="1"/>
          </p:cNvPicPr>
          <p:nvPr/>
        </p:nvPicPr>
        <p:blipFill>
          <a:blip r:embed="rId3"/>
          <a:stretch>
            <a:fillRect/>
          </a:stretch>
        </p:blipFill>
        <p:spPr>
          <a:xfrm>
            <a:off x="5137150" y="2059289"/>
            <a:ext cx="4356100" cy="4282517"/>
          </a:xfrm>
          <a:prstGeom prst="rect">
            <a:avLst/>
          </a:prstGeom>
          <a:ln>
            <a:solidFill>
              <a:schemeClr val="tx1"/>
            </a:solidFill>
          </a:ln>
        </p:spPr>
      </p:pic>
      <p:pic>
        <p:nvPicPr>
          <p:cNvPr id="6" name="Picture 5">
            <a:extLst>
              <a:ext uri="{FF2B5EF4-FFF2-40B4-BE49-F238E27FC236}">
                <a16:creationId xmlns:a16="http://schemas.microsoft.com/office/drawing/2014/main" id="{70362251-3F0D-0D16-7C98-DA7E53768428}"/>
              </a:ext>
            </a:extLst>
          </p:cNvPr>
          <p:cNvPicPr>
            <a:picLocks noChangeAspect="1"/>
          </p:cNvPicPr>
          <p:nvPr/>
        </p:nvPicPr>
        <p:blipFill>
          <a:blip r:embed="rId4"/>
          <a:stretch>
            <a:fillRect/>
          </a:stretch>
        </p:blipFill>
        <p:spPr>
          <a:xfrm>
            <a:off x="9602884" y="2059289"/>
            <a:ext cx="4282517" cy="4282517"/>
          </a:xfrm>
          <a:prstGeom prst="rect">
            <a:avLst/>
          </a:prstGeom>
          <a:ln>
            <a:solidFill>
              <a:schemeClr val="tx1"/>
            </a:solidFill>
          </a:ln>
        </p:spPr>
      </p:pic>
    </p:spTree>
    <p:extLst>
      <p:ext uri="{BB962C8B-B14F-4D97-AF65-F5344CB8AC3E}">
        <p14:creationId xmlns:p14="http://schemas.microsoft.com/office/powerpoint/2010/main" val="256222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A683D-F93E-5440-E10A-EE5E047156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E36E97-DED5-D599-1318-0C99F45124D5}"/>
              </a:ext>
            </a:extLst>
          </p:cNvPr>
          <p:cNvSpPr txBox="1"/>
          <p:nvPr/>
        </p:nvSpPr>
        <p:spPr>
          <a:xfrm>
            <a:off x="648929" y="560438"/>
            <a:ext cx="13096568"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SFC EMBEDDING EXAMPLE</a:t>
            </a:r>
          </a:p>
        </p:txBody>
      </p:sp>
      <p:sp>
        <p:nvSpPr>
          <p:cNvPr id="3" name="TextBox 2">
            <a:extLst>
              <a:ext uri="{FF2B5EF4-FFF2-40B4-BE49-F238E27FC236}">
                <a16:creationId xmlns:a16="http://schemas.microsoft.com/office/drawing/2014/main" id="{54114D18-C76D-C29D-7228-AB5D6D59BD85}"/>
              </a:ext>
            </a:extLst>
          </p:cNvPr>
          <p:cNvSpPr txBox="1"/>
          <p:nvPr/>
        </p:nvSpPr>
        <p:spPr>
          <a:xfrm>
            <a:off x="1801761" y="1670664"/>
            <a:ext cx="6400800" cy="4413259"/>
          </a:xfrm>
          <a:prstGeom prst="rect">
            <a:avLst/>
          </a:prstGeom>
          <a:noFill/>
        </p:spPr>
        <p:txBody>
          <a:bodyPr wrap="square" rtlCol="0">
            <a:spAutoFit/>
          </a:bodyPr>
          <a:lstStyle/>
          <a:p>
            <a:pPr>
              <a:lnSpc>
                <a:spcPct val="200000"/>
              </a:lnSpc>
            </a:pPr>
            <a:r>
              <a:rPr lang="en-IN" sz="2400" b="1" dirty="0">
                <a:latin typeface="Inter Bold" panose="020B0604020202020204" charset="0"/>
                <a:ea typeface="Inter Bold" panose="020B0604020202020204" charset="0"/>
              </a:rPr>
              <a:t>MILP Embedding </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VNF1: Firewall → Node 4 (45/50 CPU)</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VNF2: Encryption → Node 7 (28/40 CPU)</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VNF3: NAT → Node 10 (38/40 CPU)</a:t>
            </a:r>
          </a:p>
          <a:p>
            <a:pPr>
              <a:lnSpc>
                <a:spcPct val="200000"/>
              </a:lnSpc>
              <a:buFont typeface="Arial" panose="020B0604020202020204" pitchFamily="34" charset="0"/>
              <a:buChar char="•"/>
            </a:pPr>
            <a:r>
              <a:rPr lang="en-IN" sz="2400" dirty="0">
                <a:latin typeface="Inter Bold" panose="020B0604020202020204" charset="0"/>
                <a:ea typeface="Inter Bold" panose="020B0604020202020204" charset="0"/>
              </a:rPr>
              <a:t>All links support ≥15 Mbps</a:t>
            </a:r>
          </a:p>
          <a:p>
            <a:pPr>
              <a:lnSpc>
                <a:spcPct val="200000"/>
              </a:lnSpc>
            </a:pPr>
            <a:endParaRPr lang="en-IN" sz="2400" dirty="0">
              <a:latin typeface="Inter Bold" panose="020B0604020202020204" charset="0"/>
              <a:ea typeface="Inter Bold" panose="020B0604020202020204" charset="0"/>
            </a:endParaRPr>
          </a:p>
        </p:txBody>
      </p:sp>
    </p:spTree>
    <p:extLst>
      <p:ext uri="{BB962C8B-B14F-4D97-AF65-F5344CB8AC3E}">
        <p14:creationId xmlns:p14="http://schemas.microsoft.com/office/powerpoint/2010/main" val="121979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C28AD-F466-1C69-B15F-040160C4A8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CC3F25-EE44-CB4F-00D4-614C5835D9B5}"/>
              </a:ext>
            </a:extLst>
          </p:cNvPr>
          <p:cNvSpPr txBox="1"/>
          <p:nvPr/>
        </p:nvSpPr>
        <p:spPr>
          <a:xfrm>
            <a:off x="825910" y="663677"/>
            <a:ext cx="12506632"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DISCUSSION</a:t>
            </a:r>
          </a:p>
        </p:txBody>
      </p:sp>
      <p:sp>
        <p:nvSpPr>
          <p:cNvPr id="8" name="TextBox 7">
            <a:extLst>
              <a:ext uri="{FF2B5EF4-FFF2-40B4-BE49-F238E27FC236}">
                <a16:creationId xmlns:a16="http://schemas.microsoft.com/office/drawing/2014/main" id="{83E2ED7F-7F75-706E-423B-C570BD5AD6CF}"/>
              </a:ext>
            </a:extLst>
          </p:cNvPr>
          <p:cNvSpPr txBox="1"/>
          <p:nvPr/>
        </p:nvSpPr>
        <p:spPr>
          <a:xfrm>
            <a:off x="1637070" y="1834654"/>
            <a:ext cx="10097729" cy="3674596"/>
          </a:xfrm>
          <a:prstGeom prst="rect">
            <a:avLst/>
          </a:prstGeom>
          <a:noFill/>
        </p:spPr>
        <p:txBody>
          <a:bodyPr wrap="square">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MILP → best acceptance + balanced usage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DP → strong for single paths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Greedy → fastest but weakest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Inter Bold" panose="020B0604020202020204" charset="0"/>
                <a:ea typeface="Inter Bold" panose="020B0604020202020204" charset="0"/>
              </a:rPr>
              <a:t>Protocol-aware placement improves latency &amp; throughput simultaneously</a:t>
            </a:r>
          </a:p>
        </p:txBody>
      </p:sp>
    </p:spTree>
    <p:extLst>
      <p:ext uri="{BB962C8B-B14F-4D97-AF65-F5344CB8AC3E}">
        <p14:creationId xmlns:p14="http://schemas.microsoft.com/office/powerpoint/2010/main" val="1174920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724FE-46CC-DD9C-F75A-BF07215460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B8CD82-2829-85C1-CEAC-D0FBE2EFEC76}"/>
              </a:ext>
            </a:extLst>
          </p:cNvPr>
          <p:cNvSpPr txBox="1"/>
          <p:nvPr/>
        </p:nvSpPr>
        <p:spPr>
          <a:xfrm>
            <a:off x="442452" y="648929"/>
            <a:ext cx="13833987" cy="584775"/>
          </a:xfrm>
          <a:prstGeom prst="rect">
            <a:avLst/>
          </a:prstGeom>
          <a:noFill/>
        </p:spPr>
        <p:txBody>
          <a:bodyPr wrap="square" rtlCol="0">
            <a:spAutoFit/>
          </a:bodyPr>
          <a:lstStyle/>
          <a:p>
            <a:r>
              <a:rPr lang="en-IN" sz="3200" b="1" dirty="0">
                <a:latin typeface="Inter Bold" panose="020B0604020202020204" charset="0"/>
                <a:ea typeface="Inter Bold" panose="020B0604020202020204" charset="0"/>
              </a:rPr>
              <a:t>CONCLUSION &amp; FUTURE WORK</a:t>
            </a:r>
          </a:p>
        </p:txBody>
      </p:sp>
      <p:sp>
        <p:nvSpPr>
          <p:cNvPr id="3" name="TextBox 2">
            <a:extLst>
              <a:ext uri="{FF2B5EF4-FFF2-40B4-BE49-F238E27FC236}">
                <a16:creationId xmlns:a16="http://schemas.microsoft.com/office/drawing/2014/main" id="{C90D8B10-330F-3160-8F58-9F44425EFE71}"/>
              </a:ext>
            </a:extLst>
          </p:cNvPr>
          <p:cNvSpPr txBox="1"/>
          <p:nvPr/>
        </p:nvSpPr>
        <p:spPr>
          <a:xfrm>
            <a:off x="1044678" y="955820"/>
            <a:ext cx="9750322" cy="7017306"/>
          </a:xfrm>
          <a:prstGeom prst="rect">
            <a:avLst/>
          </a:prstGeom>
          <a:noFill/>
        </p:spPr>
        <p:txBody>
          <a:bodyPr wrap="square" rtlCol="0">
            <a:spAutoFit/>
          </a:bodyPr>
          <a:lstStyle/>
          <a:p>
            <a:pPr>
              <a:lnSpc>
                <a:spcPct val="200000"/>
              </a:lnSpc>
            </a:pPr>
            <a:r>
              <a:rPr lang="en-IN" sz="2400" b="1" dirty="0"/>
              <a:t>Conclusion</a:t>
            </a:r>
          </a:p>
          <a:p>
            <a:pPr>
              <a:lnSpc>
                <a:spcPct val="200000"/>
              </a:lnSpc>
              <a:buFont typeface="Arial" panose="020B0604020202020204" pitchFamily="34" charset="0"/>
              <a:buChar char="•"/>
            </a:pPr>
            <a:r>
              <a:rPr lang="en-IN" sz="2400" dirty="0"/>
              <a:t>  Built protocol-aware placement system</a:t>
            </a:r>
          </a:p>
          <a:p>
            <a:pPr>
              <a:lnSpc>
                <a:spcPct val="200000"/>
              </a:lnSpc>
              <a:buFont typeface="Arial" panose="020B0604020202020204" pitchFamily="34" charset="0"/>
              <a:buChar char="•"/>
            </a:pPr>
            <a:r>
              <a:rPr lang="en-IN" sz="2400" dirty="0"/>
              <a:t>  Improved QoS for TCP/Non-TCP</a:t>
            </a:r>
          </a:p>
          <a:p>
            <a:pPr>
              <a:lnSpc>
                <a:spcPct val="200000"/>
              </a:lnSpc>
              <a:buFont typeface="Arial" panose="020B0604020202020204" pitchFamily="34" charset="0"/>
              <a:buChar char="•"/>
            </a:pPr>
            <a:r>
              <a:rPr lang="en-IN" sz="2400" dirty="0"/>
              <a:t>  MILP achieved highest performance</a:t>
            </a:r>
          </a:p>
          <a:p>
            <a:pPr>
              <a:lnSpc>
                <a:spcPct val="200000"/>
              </a:lnSpc>
              <a:buFont typeface="Arial" panose="020B0604020202020204" pitchFamily="34" charset="0"/>
              <a:buChar char="•"/>
            </a:pPr>
            <a:r>
              <a:rPr lang="en-IN" sz="2400" dirty="0"/>
              <a:t>DP balanced speed and quality</a:t>
            </a:r>
          </a:p>
          <a:p>
            <a:pPr>
              <a:lnSpc>
                <a:spcPct val="200000"/>
              </a:lnSpc>
            </a:pPr>
            <a:r>
              <a:rPr lang="en-IN" sz="2400" b="1" dirty="0"/>
              <a:t>Future Work</a:t>
            </a:r>
          </a:p>
          <a:p>
            <a:pPr>
              <a:lnSpc>
                <a:spcPct val="200000"/>
              </a:lnSpc>
              <a:buFont typeface="Arial" panose="020B0604020202020204" pitchFamily="34" charset="0"/>
              <a:buChar char="•"/>
            </a:pPr>
            <a:r>
              <a:rPr lang="en-IN" sz="2400" dirty="0"/>
              <a:t>  DRL-based placement</a:t>
            </a:r>
          </a:p>
          <a:p>
            <a:pPr>
              <a:lnSpc>
                <a:spcPct val="200000"/>
              </a:lnSpc>
              <a:buFont typeface="Arial" panose="020B0604020202020204" pitchFamily="34" charset="0"/>
              <a:buChar char="•"/>
            </a:pPr>
            <a:r>
              <a:rPr lang="en-IN" sz="2400" dirty="0"/>
              <a:t>  Hybrid MILP + heuristic</a:t>
            </a:r>
          </a:p>
          <a:p>
            <a:pPr>
              <a:lnSpc>
                <a:spcPct val="200000"/>
              </a:lnSpc>
              <a:buFont typeface="Arial" panose="020B0604020202020204" pitchFamily="34" charset="0"/>
              <a:buChar char="•"/>
            </a:pPr>
            <a:r>
              <a:rPr lang="en-IN" sz="2400" dirty="0"/>
              <a:t>  Real-time VNF migration</a:t>
            </a:r>
          </a:p>
          <a:p>
            <a:endParaRPr lang="en-IN" dirty="0"/>
          </a:p>
        </p:txBody>
      </p:sp>
    </p:spTree>
    <p:extLst>
      <p:ext uri="{BB962C8B-B14F-4D97-AF65-F5344CB8AC3E}">
        <p14:creationId xmlns:p14="http://schemas.microsoft.com/office/powerpoint/2010/main" val="2758922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117600" y="1773022"/>
            <a:ext cx="11548534" cy="5909310"/>
          </a:xfrm>
          <a:prstGeom prst="rect">
            <a:avLst/>
          </a:prstGeom>
        </p:spPr>
        <p:txBody>
          <a:bodyPr wrap="square">
            <a:spAutoFit/>
          </a:bodyPr>
          <a:lstStyle/>
          <a:p>
            <a:pPr marL="360000" indent="-457200" algn="just">
              <a:lnSpc>
                <a:spcPct val="140000"/>
              </a:lnSpc>
            </a:pPr>
            <a:r>
              <a:rPr lang="en-US" dirty="0">
                <a:solidFill>
                  <a:srgbClr val="000000"/>
                </a:solidFill>
                <a:latin typeface="Inter" panose="02000503000000020004" pitchFamily="2" charset="0"/>
                <a:ea typeface="Inter" panose="02000503000000020004" pitchFamily="2" charset="0"/>
                <a:cs typeface="Clear Sans"/>
                <a:sym typeface="Clear Sans"/>
              </a:rPr>
              <a:t>[1] H. U. </a:t>
            </a:r>
            <a:r>
              <a:rPr lang="en-US" dirty="0" err="1">
                <a:solidFill>
                  <a:srgbClr val="000000"/>
                </a:solidFill>
                <a:latin typeface="Inter" panose="02000503000000020004" pitchFamily="2" charset="0"/>
                <a:ea typeface="Inter" panose="02000503000000020004" pitchFamily="2" charset="0"/>
                <a:cs typeface="Clear Sans"/>
                <a:sym typeface="Clear Sans"/>
              </a:rPr>
              <a:t>Adoga</a:t>
            </a:r>
            <a:r>
              <a:rPr lang="en-US" dirty="0">
                <a:solidFill>
                  <a:srgbClr val="000000"/>
                </a:solidFill>
                <a:latin typeface="Inter" panose="02000503000000020004" pitchFamily="2" charset="0"/>
                <a:ea typeface="Inter" panose="02000503000000020004" pitchFamily="2" charset="0"/>
                <a:cs typeface="Clear Sans"/>
                <a:sym typeface="Clear Sans"/>
              </a:rPr>
              <a:t> and D. P. </a:t>
            </a:r>
            <a:r>
              <a:rPr lang="en-US" dirty="0" err="1">
                <a:solidFill>
                  <a:srgbClr val="000000"/>
                </a:solidFill>
                <a:latin typeface="Inter" panose="02000503000000020004" pitchFamily="2" charset="0"/>
                <a:ea typeface="Inter" panose="02000503000000020004" pitchFamily="2" charset="0"/>
                <a:cs typeface="Clear Sans"/>
                <a:sym typeface="Clear Sans"/>
              </a:rPr>
              <a:t>Pezaros</a:t>
            </a:r>
            <a:r>
              <a:rPr lang="en-US" dirty="0">
                <a:solidFill>
                  <a:srgbClr val="000000"/>
                </a:solidFill>
                <a:latin typeface="Inter" panose="02000503000000020004" pitchFamily="2" charset="0"/>
                <a:ea typeface="Inter" panose="02000503000000020004" pitchFamily="2" charset="0"/>
                <a:cs typeface="Clear Sans"/>
                <a:sym typeface="Clear Sans"/>
              </a:rPr>
              <a:t>, “Network Function Virtualization and Service Function Chaining Frameworks: A Comprehensive Review of Requirements, Objectives, Implementations, and Open Research Challenges,” Future Internet, vol. 14, no. 2, p. 59, Feb. 2022, </a:t>
            </a:r>
            <a:r>
              <a:rPr lang="en-US" dirty="0" err="1">
                <a:solidFill>
                  <a:srgbClr val="000000"/>
                </a:solidFill>
                <a:latin typeface="Inter" panose="02000503000000020004" pitchFamily="2" charset="0"/>
                <a:ea typeface="Inter" panose="02000503000000020004" pitchFamily="2" charset="0"/>
                <a:cs typeface="Clear Sans"/>
                <a:sym typeface="Clear Sans"/>
              </a:rPr>
              <a:t>doi</a:t>
            </a:r>
            <a:r>
              <a:rPr lang="en-US" dirty="0">
                <a:solidFill>
                  <a:srgbClr val="000000"/>
                </a:solidFill>
                <a:latin typeface="Inter" panose="02000503000000020004" pitchFamily="2" charset="0"/>
                <a:ea typeface="Inter" panose="02000503000000020004" pitchFamily="2" charset="0"/>
                <a:cs typeface="Clear Sans"/>
                <a:sym typeface="Clear Sans"/>
              </a:rPr>
              <a:t>: </a:t>
            </a:r>
            <a:r>
              <a:rPr lang="en-US" u="sng" dirty="0">
                <a:solidFill>
                  <a:srgbClr val="000000"/>
                </a:solidFill>
                <a:latin typeface="Inter" panose="02000503000000020004" pitchFamily="2" charset="0"/>
                <a:ea typeface="Inter" panose="02000503000000020004" pitchFamily="2" charset="0"/>
                <a:cs typeface="Clear Sans"/>
                <a:sym typeface="Clear Sans"/>
                <a:hlinkClick r:id="rId3"/>
              </a:rPr>
              <a:t>https://doi.org/10.3390/fi14020059</a:t>
            </a:r>
            <a:r>
              <a:rPr lang="en-US" dirty="0">
                <a:solidFill>
                  <a:srgbClr val="000000"/>
                </a:solidFill>
                <a:latin typeface="Inter" panose="02000503000000020004" pitchFamily="2" charset="0"/>
                <a:ea typeface="Inter" panose="02000503000000020004" pitchFamily="2" charset="0"/>
                <a:cs typeface="Clear Sans"/>
                <a:sym typeface="Clear Sans"/>
              </a:rPr>
              <a:t>.</a:t>
            </a:r>
          </a:p>
          <a:p>
            <a:pPr marL="360000" indent="-457200" algn="just">
              <a:lnSpc>
                <a:spcPct val="140000"/>
              </a:lnSpc>
            </a:pPr>
            <a:r>
              <a:rPr lang="en-US" dirty="0">
                <a:solidFill>
                  <a:srgbClr val="000000"/>
                </a:solidFill>
                <a:latin typeface="Inter" panose="02000503000000020004" pitchFamily="2" charset="0"/>
                <a:ea typeface="Inter" panose="02000503000000020004" pitchFamily="2" charset="0"/>
                <a:cs typeface="Clear Sans"/>
                <a:sym typeface="Clear Sans"/>
              </a:rPr>
              <a:t>[2] Y. Wang, L. Nguyen, and Q. Hu, “Network Function Virtualization in Elastic Optical Networks,” Journal of </a:t>
            </a:r>
            <a:r>
              <a:rPr lang="en-US" dirty="0" err="1">
                <a:solidFill>
                  <a:srgbClr val="000000"/>
                </a:solidFill>
                <a:latin typeface="Inter" panose="02000503000000020004" pitchFamily="2" charset="0"/>
                <a:ea typeface="Inter" panose="02000503000000020004" pitchFamily="2" charset="0"/>
                <a:cs typeface="Clear Sans"/>
                <a:sym typeface="Clear Sans"/>
              </a:rPr>
              <a:t>Lightwave</a:t>
            </a:r>
            <a:r>
              <a:rPr lang="en-US" dirty="0">
                <a:solidFill>
                  <a:srgbClr val="000000"/>
                </a:solidFill>
                <a:latin typeface="Inter" panose="02000503000000020004" pitchFamily="2" charset="0"/>
                <a:ea typeface="Inter" panose="02000503000000020004" pitchFamily="2" charset="0"/>
                <a:cs typeface="Clear Sans"/>
                <a:sym typeface="Clear Sans"/>
              </a:rPr>
              <a:t> Technology, vol. 41, no. 16, pp. 5183–5192, Mar. 2023, </a:t>
            </a:r>
            <a:r>
              <a:rPr lang="en-US" dirty="0" err="1">
                <a:solidFill>
                  <a:srgbClr val="000000"/>
                </a:solidFill>
                <a:latin typeface="Inter" panose="02000503000000020004" pitchFamily="2" charset="0"/>
                <a:ea typeface="Inter" panose="02000503000000020004" pitchFamily="2" charset="0"/>
                <a:cs typeface="Clear Sans"/>
                <a:sym typeface="Clear Sans"/>
              </a:rPr>
              <a:t>doi</a:t>
            </a:r>
            <a:r>
              <a:rPr lang="en-US" dirty="0">
                <a:solidFill>
                  <a:srgbClr val="000000"/>
                </a:solidFill>
                <a:latin typeface="Inter" panose="02000503000000020004" pitchFamily="2" charset="0"/>
                <a:ea typeface="Inter" panose="02000503000000020004" pitchFamily="2" charset="0"/>
                <a:cs typeface="Clear Sans"/>
                <a:sym typeface="Clear Sans"/>
              </a:rPr>
              <a:t>: </a:t>
            </a:r>
            <a:r>
              <a:rPr lang="en-US" u="sng" dirty="0">
                <a:solidFill>
                  <a:srgbClr val="000000"/>
                </a:solidFill>
                <a:latin typeface="Inter" panose="02000503000000020004" pitchFamily="2" charset="0"/>
                <a:ea typeface="Inter" panose="02000503000000020004" pitchFamily="2" charset="0"/>
                <a:cs typeface="Clear Sans"/>
                <a:sym typeface="Clear Sans"/>
                <a:hlinkClick r:id="rId4"/>
              </a:rPr>
              <a:t>https://doi.org/10.1109/jlt.2023.3260623</a:t>
            </a:r>
            <a:r>
              <a:rPr lang="en-US" dirty="0">
                <a:solidFill>
                  <a:srgbClr val="000000"/>
                </a:solidFill>
                <a:latin typeface="Inter" panose="02000503000000020004" pitchFamily="2" charset="0"/>
                <a:ea typeface="Inter" panose="02000503000000020004" pitchFamily="2" charset="0"/>
                <a:cs typeface="Clear Sans"/>
                <a:sym typeface="Clear Sans"/>
              </a:rPr>
              <a:t>.</a:t>
            </a:r>
          </a:p>
          <a:p>
            <a:pPr marL="360000" indent="-457200" algn="just">
              <a:lnSpc>
                <a:spcPct val="140000"/>
              </a:lnSpc>
            </a:pPr>
            <a:r>
              <a:rPr lang="en-US" dirty="0">
                <a:solidFill>
                  <a:srgbClr val="000000"/>
                </a:solidFill>
                <a:latin typeface="Inter" panose="02000503000000020004" pitchFamily="2" charset="0"/>
                <a:ea typeface="Inter" panose="02000503000000020004" pitchFamily="2" charset="0"/>
                <a:cs typeface="Clear Sans"/>
                <a:sym typeface="Clear Sans"/>
              </a:rPr>
              <a:t>[3] L. Xu, H. Hu, and Y. Liu, “</a:t>
            </a:r>
            <a:r>
              <a:rPr lang="en-US" dirty="0" err="1">
                <a:solidFill>
                  <a:srgbClr val="000000"/>
                </a:solidFill>
                <a:latin typeface="Inter" panose="02000503000000020004" pitchFamily="2" charset="0"/>
                <a:ea typeface="Inter" panose="02000503000000020004" pitchFamily="2" charset="0"/>
                <a:cs typeface="Clear Sans"/>
                <a:sym typeface="Clear Sans"/>
              </a:rPr>
              <a:t>SFCSim</a:t>
            </a:r>
            <a:r>
              <a:rPr lang="en-US" dirty="0">
                <a:solidFill>
                  <a:srgbClr val="000000"/>
                </a:solidFill>
                <a:latin typeface="Inter" panose="02000503000000020004" pitchFamily="2" charset="0"/>
                <a:ea typeface="Inter" panose="02000503000000020004" pitchFamily="2" charset="0"/>
                <a:cs typeface="Clear Sans"/>
                <a:sym typeface="Clear Sans"/>
              </a:rPr>
              <a:t>: a network function virtualization resource allocation simulation platform,” Cluster Computing, Jul. 2022, </a:t>
            </a:r>
            <a:r>
              <a:rPr lang="en-US" dirty="0" err="1">
                <a:solidFill>
                  <a:srgbClr val="000000"/>
                </a:solidFill>
                <a:latin typeface="Inter" panose="02000503000000020004" pitchFamily="2" charset="0"/>
                <a:ea typeface="Inter" panose="02000503000000020004" pitchFamily="2" charset="0"/>
                <a:cs typeface="Clear Sans"/>
                <a:sym typeface="Clear Sans"/>
              </a:rPr>
              <a:t>doi</a:t>
            </a:r>
            <a:r>
              <a:rPr lang="en-US" dirty="0">
                <a:solidFill>
                  <a:srgbClr val="000000"/>
                </a:solidFill>
                <a:latin typeface="Inter" panose="02000503000000020004" pitchFamily="2" charset="0"/>
                <a:ea typeface="Inter" panose="02000503000000020004" pitchFamily="2" charset="0"/>
                <a:cs typeface="Clear Sans"/>
                <a:sym typeface="Clear Sans"/>
              </a:rPr>
              <a:t>: </a:t>
            </a:r>
            <a:r>
              <a:rPr lang="en-US" u="sng" dirty="0">
                <a:solidFill>
                  <a:srgbClr val="000000"/>
                </a:solidFill>
                <a:latin typeface="Inter" panose="02000503000000020004" pitchFamily="2" charset="0"/>
                <a:ea typeface="Inter" panose="02000503000000020004" pitchFamily="2" charset="0"/>
                <a:cs typeface="Clear Sans"/>
                <a:sym typeface="Clear Sans"/>
                <a:hlinkClick r:id="rId5" tooltip="https://doi.org/10.1007/s10586-022-03670-8"/>
              </a:rPr>
              <a:t>https://doi.org/10.1007/s10586-022-03670-8</a:t>
            </a:r>
            <a:r>
              <a:rPr lang="en-US" dirty="0">
                <a:solidFill>
                  <a:srgbClr val="000000"/>
                </a:solidFill>
                <a:latin typeface="Inter" panose="02000503000000020004" pitchFamily="2" charset="0"/>
                <a:ea typeface="Inter" panose="02000503000000020004" pitchFamily="2" charset="0"/>
                <a:cs typeface="Clear Sans"/>
                <a:sym typeface="Clear Sans"/>
              </a:rPr>
              <a:t>.</a:t>
            </a:r>
          </a:p>
          <a:p>
            <a:pPr marL="360000" indent="-457200" algn="just">
              <a:lnSpc>
                <a:spcPct val="140000"/>
              </a:lnSpc>
            </a:pPr>
            <a:r>
              <a:rPr lang="en-US" dirty="0">
                <a:solidFill>
                  <a:srgbClr val="000000"/>
                </a:solidFill>
                <a:latin typeface="Inter" panose="02000503000000020004" pitchFamily="2" charset="0"/>
                <a:ea typeface="Inter" panose="02000503000000020004" pitchFamily="2" charset="0"/>
                <a:cs typeface="Clear Sans"/>
                <a:sym typeface="Clear Sans"/>
              </a:rPr>
              <a:t>[4] </a:t>
            </a:r>
            <a:r>
              <a:rPr lang="en-US" dirty="0" err="1">
                <a:solidFill>
                  <a:srgbClr val="000000"/>
                </a:solidFill>
                <a:latin typeface="Inter" panose="02000503000000020004" pitchFamily="2" charset="0"/>
                <a:ea typeface="Inter" panose="02000503000000020004" pitchFamily="2" charset="0"/>
                <a:cs typeface="Clear Sans"/>
                <a:sym typeface="Clear Sans"/>
              </a:rPr>
              <a:t>Wissal</a:t>
            </a:r>
            <a:r>
              <a:rPr lang="en-US" dirty="0">
                <a:solidFill>
                  <a:srgbClr val="000000"/>
                </a:solidFill>
                <a:latin typeface="Inter" panose="02000503000000020004" pitchFamily="2" charset="0"/>
                <a:ea typeface="Inter" panose="02000503000000020004" pitchFamily="2" charset="0"/>
                <a:cs typeface="Clear Sans"/>
                <a:sym typeface="Clear Sans"/>
              </a:rPr>
              <a:t> </a:t>
            </a:r>
            <a:r>
              <a:rPr lang="en-US" dirty="0" err="1">
                <a:solidFill>
                  <a:srgbClr val="000000"/>
                </a:solidFill>
                <a:latin typeface="Inter" panose="02000503000000020004" pitchFamily="2" charset="0"/>
                <a:ea typeface="Inter" panose="02000503000000020004" pitchFamily="2" charset="0"/>
                <a:cs typeface="Clear Sans"/>
                <a:sym typeface="Clear Sans"/>
              </a:rPr>
              <a:t>Attaoui</a:t>
            </a:r>
            <a:r>
              <a:rPr lang="en-US" dirty="0">
                <a:solidFill>
                  <a:srgbClr val="000000"/>
                </a:solidFill>
                <a:latin typeface="Inter" panose="02000503000000020004" pitchFamily="2" charset="0"/>
                <a:ea typeface="Inter" panose="02000503000000020004" pitchFamily="2" charset="0"/>
                <a:cs typeface="Clear Sans"/>
                <a:sym typeface="Clear Sans"/>
              </a:rPr>
              <a:t>, E. Sabir, Halima </a:t>
            </a:r>
            <a:r>
              <a:rPr lang="en-US" dirty="0" err="1">
                <a:solidFill>
                  <a:srgbClr val="000000"/>
                </a:solidFill>
                <a:latin typeface="Inter" panose="02000503000000020004" pitchFamily="2" charset="0"/>
                <a:ea typeface="Inter" panose="02000503000000020004" pitchFamily="2" charset="0"/>
                <a:cs typeface="Clear Sans"/>
                <a:sym typeface="Clear Sans"/>
              </a:rPr>
              <a:t>Elbiaze</a:t>
            </a:r>
            <a:r>
              <a:rPr lang="en-US" dirty="0">
                <a:solidFill>
                  <a:srgbClr val="000000"/>
                </a:solidFill>
                <a:latin typeface="Inter" panose="02000503000000020004" pitchFamily="2" charset="0"/>
                <a:ea typeface="Inter" panose="02000503000000020004" pitchFamily="2" charset="0"/>
                <a:cs typeface="Clear Sans"/>
                <a:sym typeface="Clear Sans"/>
              </a:rPr>
              <a:t>, and Mohsen </a:t>
            </a:r>
            <a:r>
              <a:rPr lang="en-US" dirty="0" err="1">
                <a:solidFill>
                  <a:srgbClr val="000000"/>
                </a:solidFill>
                <a:latin typeface="Inter" panose="02000503000000020004" pitchFamily="2" charset="0"/>
                <a:ea typeface="Inter" panose="02000503000000020004" pitchFamily="2" charset="0"/>
                <a:cs typeface="Clear Sans"/>
                <a:sym typeface="Clear Sans"/>
              </a:rPr>
              <a:t>Guizani</a:t>
            </a:r>
            <a:r>
              <a:rPr lang="en-US" dirty="0">
                <a:solidFill>
                  <a:srgbClr val="000000"/>
                </a:solidFill>
                <a:latin typeface="Inter" panose="02000503000000020004" pitchFamily="2" charset="0"/>
                <a:ea typeface="Inter" panose="02000503000000020004" pitchFamily="2" charset="0"/>
                <a:cs typeface="Clear Sans"/>
                <a:sym typeface="Clear Sans"/>
              </a:rPr>
              <a:t>, “VNF and CNF Placement in 5G: Recent Advances and Future Trends,” IEEE Transactions on Network and Service Management, pp. 1–1, Jan. 2023, </a:t>
            </a:r>
            <a:r>
              <a:rPr lang="en-US" dirty="0" err="1">
                <a:solidFill>
                  <a:srgbClr val="000000"/>
                </a:solidFill>
                <a:latin typeface="Inter" panose="02000503000000020004" pitchFamily="2" charset="0"/>
                <a:ea typeface="Inter" panose="02000503000000020004" pitchFamily="2" charset="0"/>
                <a:cs typeface="Clear Sans"/>
                <a:sym typeface="Clear Sans"/>
              </a:rPr>
              <a:t>doi</a:t>
            </a:r>
            <a:r>
              <a:rPr lang="en-US" dirty="0">
                <a:solidFill>
                  <a:srgbClr val="000000"/>
                </a:solidFill>
                <a:latin typeface="Inter" panose="02000503000000020004" pitchFamily="2" charset="0"/>
                <a:ea typeface="Inter" panose="02000503000000020004" pitchFamily="2" charset="0"/>
                <a:cs typeface="Clear Sans"/>
                <a:sym typeface="Clear Sans"/>
              </a:rPr>
              <a:t>: </a:t>
            </a:r>
            <a:r>
              <a:rPr lang="en-US" u="sng" dirty="0">
                <a:solidFill>
                  <a:srgbClr val="000000"/>
                </a:solidFill>
                <a:latin typeface="Inter" panose="02000503000000020004" pitchFamily="2" charset="0"/>
                <a:ea typeface="Inter" panose="02000503000000020004" pitchFamily="2" charset="0"/>
                <a:cs typeface="Clear Sans"/>
                <a:sym typeface="Clear Sans"/>
                <a:hlinkClick r:id="rId6" tooltip="https://doi.org/10.1109/tnsm.2023.3264005"/>
              </a:rPr>
              <a:t>https://doi.org/10.1109/tnsm.2023.3264005</a:t>
            </a:r>
          </a:p>
          <a:p>
            <a:pPr marL="360000" indent="-457200" algn="just">
              <a:lnSpc>
                <a:spcPct val="140000"/>
              </a:lnSpc>
            </a:pPr>
            <a:r>
              <a:rPr lang="en-US" dirty="0">
                <a:solidFill>
                  <a:srgbClr val="000000"/>
                </a:solidFill>
                <a:latin typeface="Inter" panose="02000503000000020004" pitchFamily="2" charset="0"/>
                <a:ea typeface="Inter" panose="02000503000000020004" pitchFamily="2" charset="0"/>
                <a:cs typeface="Clear Sans"/>
                <a:sym typeface="Clear Sans"/>
              </a:rPr>
              <a:t>[5] B. </a:t>
            </a:r>
            <a:r>
              <a:rPr lang="en-US" dirty="0" err="1">
                <a:solidFill>
                  <a:srgbClr val="000000"/>
                </a:solidFill>
                <a:latin typeface="Inter" panose="02000503000000020004" pitchFamily="2" charset="0"/>
                <a:ea typeface="Inter" panose="02000503000000020004" pitchFamily="2" charset="0"/>
                <a:cs typeface="Clear Sans"/>
                <a:sym typeface="Clear Sans"/>
              </a:rPr>
              <a:t>Isyaku</a:t>
            </a:r>
            <a:r>
              <a:rPr lang="en-US" dirty="0">
                <a:solidFill>
                  <a:srgbClr val="000000"/>
                </a:solidFill>
                <a:latin typeface="Inter" panose="02000503000000020004" pitchFamily="2" charset="0"/>
                <a:ea typeface="Inter" panose="02000503000000020004" pitchFamily="2" charset="0"/>
                <a:cs typeface="Clear Sans"/>
                <a:sym typeface="Clear Sans"/>
              </a:rPr>
              <a:t>, K. B. A. Bakar, F. A. </a:t>
            </a:r>
            <a:r>
              <a:rPr lang="en-US" dirty="0" err="1">
                <a:solidFill>
                  <a:srgbClr val="000000"/>
                </a:solidFill>
                <a:latin typeface="Inter" panose="02000503000000020004" pitchFamily="2" charset="0"/>
                <a:ea typeface="Inter" panose="02000503000000020004" pitchFamily="2" charset="0"/>
                <a:cs typeface="Clear Sans"/>
                <a:sym typeface="Clear Sans"/>
              </a:rPr>
              <a:t>Ghaleb</a:t>
            </a:r>
            <a:r>
              <a:rPr lang="en-US" dirty="0">
                <a:solidFill>
                  <a:srgbClr val="000000"/>
                </a:solidFill>
                <a:latin typeface="Inter" panose="02000503000000020004" pitchFamily="2" charset="0"/>
                <a:ea typeface="Inter" panose="02000503000000020004" pitchFamily="2" charset="0"/>
                <a:cs typeface="Clear Sans"/>
                <a:sym typeface="Clear Sans"/>
              </a:rPr>
              <a:t>, and A. Al-</a:t>
            </a:r>
            <a:r>
              <a:rPr lang="en-US" dirty="0" err="1">
                <a:solidFill>
                  <a:srgbClr val="000000"/>
                </a:solidFill>
                <a:latin typeface="Inter" panose="02000503000000020004" pitchFamily="2" charset="0"/>
                <a:ea typeface="Inter" panose="02000503000000020004" pitchFamily="2" charset="0"/>
                <a:cs typeface="Clear Sans"/>
                <a:sym typeface="Clear Sans"/>
              </a:rPr>
              <a:t>Nahari</a:t>
            </a:r>
            <a:r>
              <a:rPr lang="en-US" dirty="0">
                <a:solidFill>
                  <a:srgbClr val="000000"/>
                </a:solidFill>
                <a:latin typeface="Inter" panose="02000503000000020004" pitchFamily="2" charset="0"/>
                <a:ea typeface="Inter" panose="02000503000000020004" pitchFamily="2" charset="0"/>
                <a:cs typeface="Clear Sans"/>
                <a:sym typeface="Clear Sans"/>
              </a:rPr>
              <a:t>, “Dynamic Routing and Failure Recovery Approaches for Efficient Resource Utilization in </a:t>
            </a:r>
            <a:r>
              <a:rPr lang="en-US" dirty="0" err="1">
                <a:solidFill>
                  <a:srgbClr val="000000"/>
                </a:solidFill>
                <a:latin typeface="Inter" panose="02000503000000020004" pitchFamily="2" charset="0"/>
                <a:ea typeface="Inter" panose="02000503000000020004" pitchFamily="2" charset="0"/>
                <a:cs typeface="Clear Sans"/>
                <a:sym typeface="Clear Sans"/>
              </a:rPr>
              <a:t>OpenFlow</a:t>
            </a:r>
            <a:r>
              <a:rPr lang="en-US" dirty="0">
                <a:solidFill>
                  <a:srgbClr val="000000"/>
                </a:solidFill>
                <a:latin typeface="Inter" panose="02000503000000020004" pitchFamily="2" charset="0"/>
                <a:ea typeface="Inter" panose="02000503000000020004" pitchFamily="2" charset="0"/>
                <a:cs typeface="Clear Sans"/>
                <a:sym typeface="Clear Sans"/>
              </a:rPr>
              <a:t>-SDN: A Survey,” IEEE Access,</a:t>
            </a:r>
            <a:r>
              <a:rPr lang="en-US" u="sng" dirty="0">
                <a:solidFill>
                  <a:srgbClr val="000000"/>
                </a:solidFill>
                <a:latin typeface="Inter" panose="02000503000000020004" pitchFamily="2" charset="0"/>
                <a:ea typeface="Inter" panose="02000503000000020004" pitchFamily="2" charset="0"/>
                <a:cs typeface="Clear Sans"/>
                <a:sym typeface="Clear Sans"/>
              </a:rPr>
              <a:t> </a:t>
            </a:r>
            <a:r>
              <a:rPr lang="en-US" dirty="0">
                <a:solidFill>
                  <a:srgbClr val="000000"/>
                </a:solidFill>
                <a:latin typeface="Inter" panose="02000503000000020004" pitchFamily="2" charset="0"/>
                <a:ea typeface="Inter" panose="02000503000000020004" pitchFamily="2" charset="0"/>
                <a:cs typeface="Clear Sans"/>
                <a:sym typeface="Clear Sans"/>
              </a:rPr>
              <a:t>vol. 10, pp. 121791–121815, 2022, </a:t>
            </a:r>
            <a:r>
              <a:rPr lang="en-US" dirty="0" err="1">
                <a:solidFill>
                  <a:srgbClr val="000000"/>
                </a:solidFill>
                <a:latin typeface="Inter" panose="02000503000000020004" pitchFamily="2" charset="0"/>
                <a:ea typeface="Inter" panose="02000503000000020004" pitchFamily="2" charset="0"/>
                <a:cs typeface="Clear Sans"/>
                <a:sym typeface="Clear Sans"/>
              </a:rPr>
              <a:t>doi</a:t>
            </a:r>
            <a:r>
              <a:rPr lang="en-US" dirty="0">
                <a:solidFill>
                  <a:srgbClr val="000000"/>
                </a:solidFill>
                <a:latin typeface="Inter" panose="02000503000000020004" pitchFamily="2" charset="0"/>
                <a:ea typeface="Inter" panose="02000503000000020004" pitchFamily="2" charset="0"/>
                <a:cs typeface="Clear Sans"/>
                <a:sym typeface="Clear Sans"/>
              </a:rPr>
              <a:t>:</a:t>
            </a:r>
            <a:r>
              <a:rPr lang="en-US" u="sng" dirty="0">
                <a:solidFill>
                  <a:srgbClr val="000000"/>
                </a:solidFill>
                <a:latin typeface="Inter" panose="02000503000000020004" pitchFamily="2" charset="0"/>
                <a:ea typeface="Inter" panose="02000503000000020004" pitchFamily="2" charset="0"/>
                <a:cs typeface="Clear Sans"/>
                <a:sym typeface="Clear Sans"/>
              </a:rPr>
              <a:t> </a:t>
            </a:r>
            <a:r>
              <a:rPr lang="en-US" u="sng" dirty="0">
                <a:solidFill>
                  <a:srgbClr val="000000"/>
                </a:solidFill>
                <a:latin typeface="Inter" panose="02000503000000020004" pitchFamily="2" charset="0"/>
                <a:ea typeface="Inter" panose="02000503000000020004" pitchFamily="2" charset="0"/>
                <a:cs typeface="Clear Sans"/>
                <a:sym typeface="Clear Sans"/>
                <a:hlinkClick r:id="rId7" tooltip="https://doi.org/10.1109/access.2022.3222849"/>
              </a:rPr>
              <a:t>https://doi.org/10.1109/access.2022.3222849</a:t>
            </a:r>
            <a:r>
              <a:rPr lang="en-US" u="sng" dirty="0">
                <a:solidFill>
                  <a:srgbClr val="000000"/>
                </a:solidFill>
                <a:latin typeface="Inter" panose="02000503000000020004" pitchFamily="2" charset="0"/>
                <a:ea typeface="Inter" panose="02000503000000020004" pitchFamily="2" charset="0"/>
                <a:cs typeface="Clear Sans"/>
                <a:sym typeface="Clear Sans"/>
              </a:rPr>
              <a:t>.</a:t>
            </a:r>
            <a:endParaRPr lang="en-US" dirty="0">
              <a:solidFill>
                <a:srgbClr val="000000"/>
              </a:solidFill>
              <a:latin typeface="Inter" panose="02000503000000020004" pitchFamily="2" charset="0"/>
              <a:ea typeface="Inter" panose="02000503000000020004" pitchFamily="2" charset="0"/>
              <a:cs typeface="Clear Sans"/>
              <a:sym typeface="Clear Sans"/>
            </a:endParaRPr>
          </a:p>
        </p:txBody>
      </p:sp>
      <p:sp>
        <p:nvSpPr>
          <p:cNvPr id="15" name="Rectangle 14"/>
          <p:cNvSpPr/>
          <p:nvPr/>
        </p:nvSpPr>
        <p:spPr>
          <a:xfrm>
            <a:off x="1117600" y="977612"/>
            <a:ext cx="2683748" cy="553998"/>
          </a:xfrm>
          <a:prstGeom prst="rect">
            <a:avLst/>
          </a:prstGeom>
        </p:spPr>
        <p:txBody>
          <a:bodyPr wrap="none">
            <a:spAutoFit/>
          </a:bodyPr>
          <a:lstStyle/>
          <a:p>
            <a:r>
              <a:rPr lang="en-IN" sz="3000" b="1" dirty="0">
                <a:solidFill>
                  <a:srgbClr val="000000"/>
                </a:solidFill>
                <a:latin typeface="Inter" panose="02000503000000020004" pitchFamily="2" charset="0"/>
                <a:ea typeface="Inter" panose="02000503000000020004" pitchFamily="2" charset="0"/>
                <a:cs typeface="Inter Bold" pitchFamily="34" charset="-120"/>
              </a:rPr>
              <a:t>REFERENCES</a:t>
            </a:r>
          </a:p>
        </p:txBody>
      </p:sp>
    </p:spTree>
    <p:extLst>
      <p:ext uri="{BB962C8B-B14F-4D97-AF65-F5344CB8AC3E}">
        <p14:creationId xmlns:p14="http://schemas.microsoft.com/office/powerpoint/2010/main" val="673579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TotalTime>
  <Words>1768</Words>
  <PresentationFormat>Custom</PresentationFormat>
  <Paragraphs>175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subject/>
  <dcterms:created xsi:type="dcterms:W3CDTF">2025-11-15T10:05:10Z</dcterms:created>
  <dcterms:modified xsi:type="dcterms:W3CDTF">2025-11-25T08:45:17Z</dcterms:modified>
</cp:coreProperties>
</file>